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0" r:id="rId5"/>
    <p:sldId id="261" r:id="rId6"/>
    <p:sldId id="262" r:id="rId7"/>
    <p:sldId id="265" r:id="rId8"/>
    <p:sldId id="268" r:id="rId9"/>
    <p:sldId id="263" r:id="rId10"/>
    <p:sldId id="269" r:id="rId11"/>
    <p:sldId id="266" r:id="rId12"/>
    <p:sldId id="264" r:id="rId13"/>
    <p:sldId id="267"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F54DB0-6F06-4743-B0C8-93F64AE4777E}" v="69" dt="2026-05-12T11:42:01.5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9" y="10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8555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4508D-8CD1-35F0-8C39-06807EA3E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A04B4-F196-8CBD-5058-34EB413B6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6FF02-5D10-4C14-07FD-E9E46A9E02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558156-1342-3997-D369-59054EB32BD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3592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2C606-BEEB-F888-E4C8-B1B25FCEC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C12B5-A957-A2E1-2373-49CC0501FD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01BEB-4C52-516A-E44F-5427A8F7D4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4F4D1B-FAD4-C45F-78A9-44AD3CB06D1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3953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B2D8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5C518"/>
          </a:solidFill>
          <a:ln w="12700">
            <a:solidFill>
              <a:srgbClr val="F5C518"/>
            </a:solidFill>
            <a:prstDash val="solid"/>
          </a:ln>
        </p:spPr>
      </p:sp>
      <p:sp>
        <p:nvSpPr>
          <p:cNvPr id="3" name="Shape 1"/>
          <p:cNvSpPr/>
          <p:nvPr/>
        </p:nvSpPr>
        <p:spPr>
          <a:xfrm>
            <a:off x="201168" y="0"/>
            <a:ext cx="82296" cy="5143500"/>
          </a:xfrm>
          <a:prstGeom prst="rect">
            <a:avLst/>
          </a:prstGeom>
          <a:solidFill>
            <a:srgbClr val="FFFFFF"/>
          </a:solidFill>
          <a:ln w="12700">
            <a:solidFill>
              <a:srgbClr val="FFFFFF"/>
            </a:solidFill>
            <a:prstDash val="solid"/>
          </a:ln>
        </p:spPr>
      </p:sp>
      <p:grpSp>
        <p:nvGrpSpPr>
          <p:cNvPr id="24" name="Group 23">
            <a:extLst>
              <a:ext uri="{FF2B5EF4-FFF2-40B4-BE49-F238E27FC236}">
                <a16:creationId xmlns:a16="http://schemas.microsoft.com/office/drawing/2014/main" id="{70581EFC-1EE1-B904-4BD4-6F17C919BC93}"/>
              </a:ext>
            </a:extLst>
          </p:cNvPr>
          <p:cNvGrpSpPr/>
          <p:nvPr/>
        </p:nvGrpSpPr>
        <p:grpSpPr>
          <a:xfrm>
            <a:off x="398213" y="4352544"/>
            <a:ext cx="1600200" cy="356616"/>
            <a:chOff x="457200" y="201168"/>
            <a:chExt cx="1600200" cy="356616"/>
          </a:xfrm>
        </p:grpSpPr>
        <p:sp>
          <p:nvSpPr>
            <p:cNvPr id="4" name="Shape 2"/>
            <p:cNvSpPr/>
            <p:nvPr/>
          </p:nvSpPr>
          <p:spPr>
            <a:xfrm>
              <a:off x="484632" y="228600"/>
              <a:ext cx="1572768" cy="329184"/>
            </a:xfrm>
            <a:prstGeom prst="rect">
              <a:avLst/>
            </a:prstGeom>
            <a:solidFill>
              <a:srgbClr val="7B4DB5"/>
            </a:solidFill>
            <a:ln w="12700">
              <a:solidFill>
                <a:srgbClr val="7B4DB5"/>
              </a:solidFill>
              <a:prstDash val="solid"/>
            </a:ln>
          </p:spPr>
        </p:sp>
        <p:sp>
          <p:nvSpPr>
            <p:cNvPr id="5" name="Text 3"/>
            <p:cNvSpPr/>
            <p:nvPr/>
          </p:nvSpPr>
          <p:spPr>
            <a:xfrm>
              <a:off x="457200" y="201168"/>
              <a:ext cx="1572768"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Empathize</a:t>
              </a:r>
              <a:endParaRPr lang="en-US" sz="1000" dirty="0"/>
            </a:p>
          </p:txBody>
        </p:sp>
      </p:grpSp>
      <p:grpSp>
        <p:nvGrpSpPr>
          <p:cNvPr id="26" name="Group 25">
            <a:extLst>
              <a:ext uri="{FF2B5EF4-FFF2-40B4-BE49-F238E27FC236}">
                <a16:creationId xmlns:a16="http://schemas.microsoft.com/office/drawing/2014/main" id="{B36FF91B-CC51-D4F0-FE5A-CCD1DB0673EB}"/>
              </a:ext>
            </a:extLst>
          </p:cNvPr>
          <p:cNvGrpSpPr/>
          <p:nvPr/>
        </p:nvGrpSpPr>
        <p:grpSpPr>
          <a:xfrm>
            <a:off x="3466720" y="4372628"/>
            <a:ext cx="1646245" cy="336532"/>
            <a:chOff x="3466720" y="4372628"/>
            <a:chExt cx="1646245" cy="336532"/>
          </a:xfrm>
        </p:grpSpPr>
        <p:sp>
          <p:nvSpPr>
            <p:cNvPr id="8" name="Shape 6"/>
            <p:cNvSpPr/>
            <p:nvPr/>
          </p:nvSpPr>
          <p:spPr>
            <a:xfrm>
              <a:off x="3466720" y="4379976"/>
              <a:ext cx="1572768" cy="329184"/>
            </a:xfrm>
            <a:prstGeom prst="rect">
              <a:avLst/>
            </a:prstGeom>
            <a:solidFill>
              <a:srgbClr val="9C6FCC"/>
            </a:solidFill>
            <a:ln w="12700">
              <a:solidFill>
                <a:srgbClr val="9C6FCC"/>
              </a:solidFill>
              <a:prstDash val="solid"/>
            </a:ln>
          </p:spPr>
        </p:sp>
        <p:sp>
          <p:nvSpPr>
            <p:cNvPr id="9" name="Text 7"/>
            <p:cNvSpPr/>
            <p:nvPr/>
          </p:nvSpPr>
          <p:spPr>
            <a:xfrm>
              <a:off x="3540197" y="4372628"/>
              <a:ext cx="1572768"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Ideate</a:t>
              </a:r>
              <a:endParaRPr lang="en-US" sz="1000" dirty="0"/>
            </a:p>
          </p:txBody>
        </p:sp>
      </p:grpSp>
      <p:grpSp>
        <p:nvGrpSpPr>
          <p:cNvPr id="27" name="Group 26">
            <a:extLst>
              <a:ext uri="{FF2B5EF4-FFF2-40B4-BE49-F238E27FC236}">
                <a16:creationId xmlns:a16="http://schemas.microsoft.com/office/drawing/2014/main" id="{28EC26E5-B8DB-C3D8-6052-361518E4FEED}"/>
              </a:ext>
            </a:extLst>
          </p:cNvPr>
          <p:cNvGrpSpPr/>
          <p:nvPr/>
        </p:nvGrpSpPr>
        <p:grpSpPr>
          <a:xfrm>
            <a:off x="5029200" y="4379976"/>
            <a:ext cx="1572768" cy="329184"/>
            <a:chOff x="5614416" y="201168"/>
            <a:chExt cx="1572768" cy="329184"/>
          </a:xfrm>
        </p:grpSpPr>
        <p:sp>
          <p:nvSpPr>
            <p:cNvPr id="10" name="Shape 8"/>
            <p:cNvSpPr/>
            <p:nvPr/>
          </p:nvSpPr>
          <p:spPr>
            <a:xfrm>
              <a:off x="5614416" y="201168"/>
              <a:ext cx="1572768" cy="329184"/>
            </a:xfrm>
            <a:prstGeom prst="rect">
              <a:avLst/>
            </a:prstGeom>
            <a:solidFill>
              <a:srgbClr val="F5C518"/>
            </a:solidFill>
            <a:ln w="12700">
              <a:solidFill>
                <a:srgbClr val="F5C518"/>
              </a:solidFill>
              <a:prstDash val="solid"/>
            </a:ln>
          </p:spPr>
        </p:sp>
        <p:sp>
          <p:nvSpPr>
            <p:cNvPr id="11" name="Text 9"/>
            <p:cNvSpPr/>
            <p:nvPr/>
          </p:nvSpPr>
          <p:spPr>
            <a:xfrm>
              <a:off x="5614416" y="201168"/>
              <a:ext cx="1572768"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Prototype</a:t>
              </a:r>
              <a:endParaRPr lang="en-US" sz="1000" dirty="0"/>
            </a:p>
          </p:txBody>
        </p:sp>
      </p:grpSp>
      <p:grpSp>
        <p:nvGrpSpPr>
          <p:cNvPr id="28" name="Group 27">
            <a:extLst>
              <a:ext uri="{FF2B5EF4-FFF2-40B4-BE49-F238E27FC236}">
                <a16:creationId xmlns:a16="http://schemas.microsoft.com/office/drawing/2014/main" id="{7CF10069-2474-7ADD-8E19-C27A41AFBCC6}"/>
              </a:ext>
            </a:extLst>
          </p:cNvPr>
          <p:cNvGrpSpPr/>
          <p:nvPr/>
        </p:nvGrpSpPr>
        <p:grpSpPr>
          <a:xfrm>
            <a:off x="6608704" y="4379976"/>
            <a:ext cx="1572768" cy="329184"/>
            <a:chOff x="7333488" y="201168"/>
            <a:chExt cx="1572768" cy="329184"/>
          </a:xfrm>
        </p:grpSpPr>
        <p:sp>
          <p:nvSpPr>
            <p:cNvPr id="12" name="Shape 10"/>
            <p:cNvSpPr/>
            <p:nvPr/>
          </p:nvSpPr>
          <p:spPr>
            <a:xfrm>
              <a:off x="7333488" y="201168"/>
              <a:ext cx="1572768" cy="329184"/>
            </a:xfrm>
            <a:prstGeom prst="rect">
              <a:avLst/>
            </a:prstGeom>
            <a:solidFill>
              <a:srgbClr val="C49A00"/>
            </a:solidFill>
            <a:ln w="12700">
              <a:solidFill>
                <a:srgbClr val="C49A00"/>
              </a:solidFill>
              <a:prstDash val="solid"/>
            </a:ln>
          </p:spPr>
        </p:sp>
        <p:sp>
          <p:nvSpPr>
            <p:cNvPr id="13" name="Text 11"/>
            <p:cNvSpPr/>
            <p:nvPr/>
          </p:nvSpPr>
          <p:spPr>
            <a:xfrm>
              <a:off x="7333488" y="201168"/>
              <a:ext cx="1572768"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Test</a:t>
              </a:r>
              <a:endParaRPr lang="en-US" sz="1000" dirty="0"/>
            </a:p>
          </p:txBody>
        </p:sp>
      </p:grpSp>
      <p:sp>
        <p:nvSpPr>
          <p:cNvPr id="14" name="Text 12"/>
          <p:cNvSpPr/>
          <p:nvPr/>
        </p:nvSpPr>
        <p:spPr>
          <a:xfrm>
            <a:off x="5188403" y="27432"/>
            <a:ext cx="3840480" cy="347472"/>
          </a:xfrm>
          <a:prstGeom prst="rect">
            <a:avLst/>
          </a:prstGeom>
          <a:noFill/>
          <a:ln/>
        </p:spPr>
        <p:txBody>
          <a:bodyPr wrap="square" lIns="0" tIns="0" rIns="0" bIns="0" rtlCol="0" anchor="ctr"/>
          <a:lstStyle/>
          <a:p>
            <a:pPr marL="0" indent="0" algn="r">
              <a:buNone/>
            </a:pPr>
            <a:r>
              <a:rPr lang="en-US" sz="1000" b="1" dirty="0">
                <a:solidFill>
                  <a:srgbClr val="F5C518"/>
                </a:solidFill>
                <a:latin typeface="Arial" pitchFamily="34" charset="0"/>
                <a:ea typeface="Arial" pitchFamily="34" charset="-122"/>
                <a:cs typeface="Arial" pitchFamily="34" charset="-120"/>
              </a:rPr>
              <a:t>RAJALAKSHMI ENGINEERING COLLEGE</a:t>
            </a:r>
            <a:endParaRPr lang="en-US" sz="1000" dirty="0"/>
          </a:p>
        </p:txBody>
      </p:sp>
      <p:sp>
        <p:nvSpPr>
          <p:cNvPr id="16" name="Text 14"/>
          <p:cNvSpPr/>
          <p:nvPr/>
        </p:nvSpPr>
        <p:spPr>
          <a:xfrm>
            <a:off x="457200" y="1051560"/>
            <a:ext cx="8229600" cy="868680"/>
          </a:xfrm>
          <a:prstGeom prst="rect">
            <a:avLst/>
          </a:prstGeom>
          <a:noFill/>
          <a:ln/>
        </p:spPr>
        <p:txBody>
          <a:bodyPr wrap="square" lIns="0" tIns="0" rIns="0" bIns="0" rtlCol="0" anchor="ctr"/>
          <a:lstStyle/>
          <a:p>
            <a:pPr marL="0" indent="0" algn="l">
              <a:buNone/>
            </a:pPr>
            <a:r>
              <a:rPr lang="en-US" sz="2400" b="1" dirty="0">
                <a:solidFill>
                  <a:srgbClr val="FFFFFF"/>
                </a:solidFill>
                <a:latin typeface="Arial" pitchFamily="34" charset="0"/>
                <a:ea typeface="Arial" pitchFamily="34" charset="-122"/>
                <a:cs typeface="Arial" pitchFamily="34" charset="-120"/>
              </a:rPr>
              <a:t>Design Thinking and Innovation </a:t>
            </a:r>
            <a:endParaRPr lang="en-US" sz="2400" dirty="0"/>
          </a:p>
        </p:txBody>
      </p:sp>
      <p:sp>
        <p:nvSpPr>
          <p:cNvPr id="17" name="Text 15"/>
          <p:cNvSpPr/>
          <p:nvPr/>
        </p:nvSpPr>
        <p:spPr>
          <a:xfrm>
            <a:off x="457200" y="1874520"/>
            <a:ext cx="8229600" cy="868680"/>
          </a:xfrm>
          <a:prstGeom prst="rect">
            <a:avLst/>
          </a:prstGeom>
          <a:noFill/>
          <a:ln/>
        </p:spPr>
        <p:txBody>
          <a:bodyPr wrap="square" lIns="0" tIns="0" rIns="0" bIns="0" rtlCol="0" anchor="ctr"/>
          <a:lstStyle/>
          <a:p>
            <a:pPr marL="0" indent="0" algn="l">
              <a:buNone/>
            </a:pPr>
            <a:r>
              <a:rPr lang="en-US" sz="3200" b="1" dirty="0">
                <a:solidFill>
                  <a:srgbClr val="F5C518"/>
                </a:solidFill>
                <a:latin typeface="Arial" pitchFamily="34" charset="0"/>
                <a:ea typeface="Arial" pitchFamily="34" charset="-122"/>
                <a:cs typeface="Arial" pitchFamily="34" charset="-120"/>
              </a:rPr>
              <a:t>Project Title</a:t>
            </a:r>
            <a:endParaRPr lang="en-US" sz="3200" dirty="0"/>
          </a:p>
        </p:txBody>
      </p:sp>
      <p:sp>
        <p:nvSpPr>
          <p:cNvPr id="18" name="Shape 16"/>
          <p:cNvSpPr/>
          <p:nvPr/>
        </p:nvSpPr>
        <p:spPr>
          <a:xfrm>
            <a:off x="201168" y="2864359"/>
            <a:ext cx="7311118" cy="45719"/>
          </a:xfrm>
          <a:prstGeom prst="rect">
            <a:avLst/>
          </a:prstGeom>
          <a:solidFill>
            <a:srgbClr val="F5C518"/>
          </a:solidFill>
          <a:ln w="12700">
            <a:solidFill>
              <a:srgbClr val="F5C518"/>
            </a:solidFill>
            <a:prstDash val="solid"/>
          </a:ln>
        </p:spPr>
      </p:sp>
      <p:sp>
        <p:nvSpPr>
          <p:cNvPr id="19" name="Text 17"/>
          <p:cNvSpPr/>
          <p:nvPr/>
        </p:nvSpPr>
        <p:spPr>
          <a:xfrm>
            <a:off x="425645" y="3504438"/>
            <a:ext cx="8229600" cy="384048"/>
          </a:xfrm>
          <a:prstGeom prst="rect">
            <a:avLst/>
          </a:prstGeom>
          <a:noFill/>
          <a:ln/>
        </p:spPr>
        <p:txBody>
          <a:bodyPr wrap="square" lIns="0" tIns="0" rIns="0" bIns="0" rtlCol="0" anchor="ctr"/>
          <a:lstStyle/>
          <a:p>
            <a:pPr marL="0" indent="0" algn="l">
              <a:buNone/>
            </a:pPr>
            <a:r>
              <a:rPr lang="en-US" sz="1500" kern="0" spc="300" dirty="0">
                <a:solidFill>
                  <a:srgbClr val="D1B5E8"/>
                </a:solidFill>
                <a:latin typeface="Arial" pitchFamily="34" charset="0"/>
                <a:ea typeface="Arial" pitchFamily="34" charset="-122"/>
                <a:cs typeface="Arial" pitchFamily="34" charset="-120"/>
              </a:rPr>
              <a:t>FINAL PROJECT REVIEW</a:t>
            </a:r>
            <a:endParaRPr lang="en-US" sz="1500" dirty="0"/>
          </a:p>
        </p:txBody>
      </p:sp>
      <p:sp>
        <p:nvSpPr>
          <p:cNvPr id="21" name="Shape 19"/>
          <p:cNvSpPr/>
          <p:nvPr/>
        </p:nvSpPr>
        <p:spPr>
          <a:xfrm>
            <a:off x="0" y="3931920"/>
            <a:ext cx="9144000" cy="45720"/>
          </a:xfrm>
          <a:prstGeom prst="rect">
            <a:avLst/>
          </a:prstGeom>
          <a:solidFill>
            <a:srgbClr val="F5C518"/>
          </a:solidFill>
          <a:ln w="12700">
            <a:solidFill>
              <a:srgbClr val="F5C518"/>
            </a:solidFill>
            <a:prstDash val="soli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B265CC1B-6D69-8E6C-4433-D2BEB3AA4E44}"/>
              </a:ext>
            </a:extLst>
          </p:cNvPr>
          <p:cNvGrpSpPr/>
          <p:nvPr/>
        </p:nvGrpSpPr>
        <p:grpSpPr>
          <a:xfrm>
            <a:off x="155448" y="-18288"/>
            <a:ext cx="9144000" cy="5074920"/>
            <a:chOff x="0" y="0"/>
            <a:chExt cx="9144000" cy="5074920"/>
          </a:xfrm>
        </p:grpSpPr>
        <p:sp>
          <p:nvSpPr>
            <p:cNvPr id="2" name="Shape 0"/>
            <p:cNvSpPr/>
            <p:nvPr/>
          </p:nvSpPr>
          <p:spPr>
            <a:xfrm>
              <a:off x="0" y="0"/>
              <a:ext cx="9144000" cy="109728"/>
            </a:xfrm>
            <a:prstGeom prst="rect">
              <a:avLst/>
            </a:prstGeom>
            <a:solidFill>
              <a:srgbClr val="5B2D8E"/>
            </a:solidFill>
            <a:ln w="12700">
              <a:solidFill>
                <a:srgbClr val="5B2D8E"/>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Text 2"/>
            <p:cNvSpPr/>
            <p:nvPr/>
          </p:nvSpPr>
          <p:spPr>
            <a:xfrm>
              <a:off x="365760" y="237744"/>
              <a:ext cx="8412480" cy="594360"/>
            </a:xfrm>
            <a:prstGeom prst="rect">
              <a:avLst/>
            </a:prstGeom>
            <a:noFill/>
            <a:ln/>
          </p:spPr>
          <p:txBody>
            <a:bodyPr wrap="square" lIns="0" tIns="0" rIns="0" bIns="0" rtlCol="0" anchor="ctr"/>
            <a:lstStyle/>
            <a:p>
              <a:pPr marL="0" indent="0" algn="l">
                <a:buNone/>
              </a:pPr>
              <a:r>
                <a:rPr lang="en-US" sz="2400" b="1" dirty="0">
                  <a:solidFill>
                    <a:srgbClr val="5B2D8E"/>
                  </a:solidFill>
                  <a:latin typeface="Arial" pitchFamily="34" charset="0"/>
                  <a:ea typeface="Arial" pitchFamily="34" charset="-122"/>
                  <a:cs typeface="Arial" pitchFamily="34" charset="-120"/>
                </a:rPr>
                <a:t>Team Introduction &amp; Agenda</a:t>
              </a:r>
              <a:endParaRPr lang="en-US" sz="2400" dirty="0"/>
            </a:p>
          </p:txBody>
        </p:sp>
        <p:sp>
          <p:nvSpPr>
            <p:cNvPr id="5" name="Shape 3"/>
            <p:cNvSpPr/>
            <p:nvPr/>
          </p:nvSpPr>
          <p:spPr>
            <a:xfrm>
              <a:off x="365760" y="850392"/>
              <a:ext cx="8412480" cy="27432"/>
            </a:xfrm>
            <a:prstGeom prst="rect">
              <a:avLst/>
            </a:prstGeom>
            <a:solidFill>
              <a:srgbClr val="D1C4E9"/>
            </a:solidFill>
            <a:ln w="12700">
              <a:solidFill>
                <a:srgbClr val="D1C4E9"/>
              </a:solidFill>
              <a:prstDash val="solid"/>
            </a:ln>
          </p:spPr>
        </p:sp>
        <p:sp>
          <p:nvSpPr>
            <p:cNvPr id="6" name="Shape 4"/>
            <p:cNvSpPr/>
            <p:nvPr/>
          </p:nvSpPr>
          <p:spPr>
            <a:xfrm>
              <a:off x="320040" y="987552"/>
              <a:ext cx="3840480" cy="3858768"/>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txBody>
            <a:bodyPr/>
            <a:lstStyle/>
            <a:p>
              <a:endParaRPr lang="en-IN" dirty="0"/>
            </a:p>
          </p:txBody>
        </p:sp>
        <p:sp>
          <p:nvSpPr>
            <p:cNvPr id="7" name="Shape 5"/>
            <p:cNvSpPr/>
            <p:nvPr/>
          </p:nvSpPr>
          <p:spPr>
            <a:xfrm>
              <a:off x="320040" y="987552"/>
              <a:ext cx="3840480" cy="438912"/>
            </a:xfrm>
            <a:prstGeom prst="rect">
              <a:avLst/>
            </a:prstGeom>
            <a:solidFill>
              <a:srgbClr val="5B2D8E"/>
            </a:solidFill>
            <a:ln w="12700">
              <a:solidFill>
                <a:srgbClr val="5B2D8E"/>
              </a:solidFill>
              <a:prstDash val="solid"/>
            </a:ln>
          </p:spPr>
        </p:sp>
        <p:sp>
          <p:nvSpPr>
            <p:cNvPr id="8" name="Text 6"/>
            <p:cNvSpPr/>
            <p:nvPr/>
          </p:nvSpPr>
          <p:spPr>
            <a:xfrm>
              <a:off x="502920" y="987552"/>
              <a:ext cx="3566160" cy="43891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Our Team</a:t>
              </a:r>
              <a:endParaRPr lang="en-US" sz="1400" dirty="0"/>
            </a:p>
          </p:txBody>
        </p:sp>
        <p:sp>
          <p:nvSpPr>
            <p:cNvPr id="9" name="Shape 7"/>
            <p:cNvSpPr/>
            <p:nvPr/>
          </p:nvSpPr>
          <p:spPr>
            <a:xfrm>
              <a:off x="475488" y="1618488"/>
              <a:ext cx="292608" cy="292608"/>
            </a:xfrm>
            <a:prstGeom prst="ellipse">
              <a:avLst/>
            </a:prstGeom>
            <a:solidFill>
              <a:srgbClr val="F5C518"/>
            </a:solidFill>
            <a:ln w="12700">
              <a:solidFill>
                <a:srgbClr val="F5C518"/>
              </a:solidFill>
              <a:prstDash val="solid"/>
            </a:ln>
          </p:spPr>
        </p:sp>
        <p:sp>
          <p:nvSpPr>
            <p:cNvPr id="10" name="Text 8"/>
            <p:cNvSpPr/>
            <p:nvPr/>
          </p:nvSpPr>
          <p:spPr>
            <a:xfrm>
              <a:off x="475488" y="1618488"/>
              <a:ext cx="292608" cy="292608"/>
            </a:xfrm>
            <a:prstGeom prst="rect">
              <a:avLst/>
            </a:prstGeom>
            <a:noFill/>
            <a:ln/>
          </p:spPr>
          <p:txBody>
            <a:bodyPr wrap="square" lIns="0" tIns="0" rIns="0" bIns="0" rtlCol="0" anchor="ctr"/>
            <a:lstStyle/>
            <a:p>
              <a:pPr marL="0" indent="0" algn="ctr">
                <a:buNone/>
              </a:pPr>
              <a:r>
                <a:rPr lang="en-US" sz="1000" b="1" dirty="0">
                  <a:solidFill>
                    <a:srgbClr val="5B2D8E"/>
                  </a:solidFill>
                  <a:latin typeface="Arial" pitchFamily="34" charset="0"/>
                  <a:ea typeface="Arial" pitchFamily="34" charset="-122"/>
                  <a:cs typeface="Arial" pitchFamily="34" charset="-120"/>
                </a:rPr>
                <a:t>1</a:t>
              </a:r>
              <a:endParaRPr lang="en-US" sz="1000" dirty="0"/>
            </a:p>
          </p:txBody>
        </p:sp>
        <p:sp>
          <p:nvSpPr>
            <p:cNvPr id="11" name="Text 9"/>
            <p:cNvSpPr/>
            <p:nvPr/>
          </p:nvSpPr>
          <p:spPr>
            <a:xfrm>
              <a:off x="868680" y="1554480"/>
              <a:ext cx="3108960" cy="420624"/>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cs typeface="Arial" pitchFamily="34" charset="-120"/>
                </a:rPr>
                <a:t>EMPOWER</a:t>
              </a:r>
              <a:endParaRPr lang="en-US" sz="1200" dirty="0"/>
            </a:p>
          </p:txBody>
        </p:sp>
        <p:sp>
          <p:nvSpPr>
            <p:cNvPr id="12" name="Shape 10"/>
            <p:cNvSpPr/>
            <p:nvPr/>
          </p:nvSpPr>
          <p:spPr>
            <a:xfrm>
              <a:off x="475488" y="2212848"/>
              <a:ext cx="292608" cy="292608"/>
            </a:xfrm>
            <a:prstGeom prst="ellipse">
              <a:avLst/>
            </a:prstGeom>
            <a:solidFill>
              <a:srgbClr val="F5C518"/>
            </a:solidFill>
            <a:ln w="12700">
              <a:solidFill>
                <a:srgbClr val="F5C518"/>
              </a:solidFill>
              <a:prstDash val="solid"/>
            </a:ln>
          </p:spPr>
        </p:sp>
        <p:sp>
          <p:nvSpPr>
            <p:cNvPr id="13" name="Text 11"/>
            <p:cNvSpPr/>
            <p:nvPr/>
          </p:nvSpPr>
          <p:spPr>
            <a:xfrm>
              <a:off x="475488" y="2212848"/>
              <a:ext cx="292608" cy="292608"/>
            </a:xfrm>
            <a:prstGeom prst="rect">
              <a:avLst/>
            </a:prstGeom>
            <a:noFill/>
            <a:ln/>
          </p:spPr>
          <p:txBody>
            <a:bodyPr wrap="square" lIns="0" tIns="0" rIns="0" bIns="0" rtlCol="0" anchor="ctr"/>
            <a:lstStyle/>
            <a:p>
              <a:pPr marL="0" indent="0" algn="ctr">
                <a:buNone/>
              </a:pPr>
              <a:r>
                <a:rPr lang="en-US" sz="1000" b="1" dirty="0">
                  <a:solidFill>
                    <a:srgbClr val="5B2D8E"/>
                  </a:solidFill>
                  <a:latin typeface="Arial" pitchFamily="34" charset="0"/>
                  <a:ea typeface="Arial" pitchFamily="34" charset="-122"/>
                  <a:cs typeface="Arial" pitchFamily="34" charset="-120"/>
                </a:rPr>
                <a:t>2</a:t>
              </a:r>
              <a:endParaRPr lang="en-US" sz="1000" dirty="0"/>
            </a:p>
          </p:txBody>
        </p:sp>
        <p:sp>
          <p:nvSpPr>
            <p:cNvPr id="14" name="Text 12"/>
            <p:cNvSpPr/>
            <p:nvPr/>
          </p:nvSpPr>
          <p:spPr>
            <a:xfrm>
              <a:off x="868680" y="2148840"/>
              <a:ext cx="3108960" cy="420624"/>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ea typeface="Arial" pitchFamily="34" charset="-122"/>
                  <a:cs typeface="Arial" pitchFamily="34" charset="-120"/>
                </a:rPr>
                <a:t>BHARKAVI N(231801023)  —  MOBILE APP DEVELOPMENT &amp; TESTING</a:t>
              </a:r>
              <a:endParaRPr lang="en-US" sz="1200" dirty="0"/>
            </a:p>
          </p:txBody>
        </p:sp>
        <p:sp>
          <p:nvSpPr>
            <p:cNvPr id="15" name="Shape 13"/>
            <p:cNvSpPr/>
            <p:nvPr/>
          </p:nvSpPr>
          <p:spPr>
            <a:xfrm>
              <a:off x="475488" y="2807208"/>
              <a:ext cx="292608" cy="292608"/>
            </a:xfrm>
            <a:prstGeom prst="ellipse">
              <a:avLst/>
            </a:prstGeom>
            <a:solidFill>
              <a:srgbClr val="F5C518"/>
            </a:solidFill>
            <a:ln w="12700">
              <a:solidFill>
                <a:srgbClr val="F5C518"/>
              </a:solidFill>
              <a:prstDash val="solid"/>
            </a:ln>
          </p:spPr>
        </p:sp>
        <p:sp>
          <p:nvSpPr>
            <p:cNvPr id="16" name="Text 14"/>
            <p:cNvSpPr/>
            <p:nvPr/>
          </p:nvSpPr>
          <p:spPr>
            <a:xfrm>
              <a:off x="475488" y="2807208"/>
              <a:ext cx="292608" cy="292608"/>
            </a:xfrm>
            <a:prstGeom prst="rect">
              <a:avLst/>
            </a:prstGeom>
            <a:noFill/>
            <a:ln/>
          </p:spPr>
          <p:txBody>
            <a:bodyPr wrap="square" lIns="0" tIns="0" rIns="0" bIns="0" rtlCol="0" anchor="ctr"/>
            <a:lstStyle/>
            <a:p>
              <a:pPr marL="0" indent="0" algn="ctr">
                <a:buNone/>
              </a:pPr>
              <a:r>
                <a:rPr lang="en-US" sz="1000" b="1" dirty="0">
                  <a:solidFill>
                    <a:srgbClr val="5B2D8E"/>
                  </a:solidFill>
                  <a:latin typeface="Arial" pitchFamily="34" charset="0"/>
                  <a:ea typeface="Arial" pitchFamily="34" charset="-122"/>
                  <a:cs typeface="Arial" pitchFamily="34" charset="-120"/>
                </a:rPr>
                <a:t>3</a:t>
              </a:r>
              <a:endParaRPr lang="en-US" sz="1000" dirty="0"/>
            </a:p>
          </p:txBody>
        </p:sp>
        <p:sp>
          <p:nvSpPr>
            <p:cNvPr id="17" name="Text 15"/>
            <p:cNvSpPr/>
            <p:nvPr/>
          </p:nvSpPr>
          <p:spPr>
            <a:xfrm>
              <a:off x="868680" y="2743200"/>
              <a:ext cx="3108960" cy="420624"/>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ea typeface="Arial" pitchFamily="34" charset="-122"/>
                  <a:cs typeface="Arial" pitchFamily="34" charset="-120"/>
                </a:rPr>
                <a:t>HEMALATHA L*(231801055)  —  DATABASE INTEGERATION &amp; RESEARCH</a:t>
              </a:r>
              <a:endParaRPr lang="en-US" sz="1200" dirty="0"/>
            </a:p>
          </p:txBody>
        </p:sp>
        <p:sp>
          <p:nvSpPr>
            <p:cNvPr id="18" name="Shape 16"/>
            <p:cNvSpPr/>
            <p:nvPr/>
          </p:nvSpPr>
          <p:spPr>
            <a:xfrm>
              <a:off x="475488" y="3401568"/>
              <a:ext cx="292608" cy="292608"/>
            </a:xfrm>
            <a:prstGeom prst="ellipse">
              <a:avLst/>
            </a:prstGeom>
            <a:solidFill>
              <a:srgbClr val="F5C518"/>
            </a:solidFill>
            <a:ln w="12700">
              <a:solidFill>
                <a:srgbClr val="F5C518"/>
              </a:solidFill>
              <a:prstDash val="solid"/>
            </a:ln>
          </p:spPr>
        </p:sp>
        <p:sp>
          <p:nvSpPr>
            <p:cNvPr id="19" name="Text 17"/>
            <p:cNvSpPr/>
            <p:nvPr/>
          </p:nvSpPr>
          <p:spPr>
            <a:xfrm>
              <a:off x="475488" y="3401568"/>
              <a:ext cx="292608" cy="292608"/>
            </a:xfrm>
            <a:prstGeom prst="rect">
              <a:avLst/>
            </a:prstGeom>
            <a:noFill/>
            <a:ln/>
          </p:spPr>
          <p:txBody>
            <a:bodyPr wrap="square" lIns="0" tIns="0" rIns="0" bIns="0" rtlCol="0" anchor="ctr"/>
            <a:lstStyle/>
            <a:p>
              <a:pPr marL="0" indent="0" algn="ctr">
                <a:buNone/>
              </a:pPr>
              <a:r>
                <a:rPr lang="en-US" sz="1000" b="1" dirty="0">
                  <a:solidFill>
                    <a:srgbClr val="5B2D8E"/>
                  </a:solidFill>
                  <a:latin typeface="Arial" pitchFamily="34" charset="0"/>
                  <a:ea typeface="Arial" pitchFamily="34" charset="-122"/>
                  <a:cs typeface="Arial" pitchFamily="34" charset="-120"/>
                </a:rPr>
                <a:t>4</a:t>
              </a:r>
              <a:endParaRPr lang="en-US" sz="1000" dirty="0"/>
            </a:p>
          </p:txBody>
        </p:sp>
        <p:sp>
          <p:nvSpPr>
            <p:cNvPr id="20" name="Text 18"/>
            <p:cNvSpPr/>
            <p:nvPr/>
          </p:nvSpPr>
          <p:spPr>
            <a:xfrm>
              <a:off x="868680" y="3337560"/>
              <a:ext cx="3108960" cy="420624"/>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ea typeface="Arial" pitchFamily="34" charset="-122"/>
                  <a:cs typeface="Arial" pitchFamily="34" charset="-120"/>
                </a:rPr>
                <a:t>MOGHANAPRIYA R(231801102) —  BACKEND &amp; DOCUMENTATION</a:t>
              </a:r>
              <a:endParaRPr lang="en-US" sz="1200" dirty="0"/>
            </a:p>
          </p:txBody>
        </p:sp>
        <p:sp>
          <p:nvSpPr>
            <p:cNvPr id="22" name="Text 20"/>
            <p:cNvSpPr/>
            <p:nvPr/>
          </p:nvSpPr>
          <p:spPr>
            <a:xfrm>
              <a:off x="475488" y="3995928"/>
              <a:ext cx="292608" cy="292608"/>
            </a:xfrm>
            <a:prstGeom prst="rect">
              <a:avLst/>
            </a:prstGeom>
            <a:noFill/>
            <a:ln/>
          </p:spPr>
          <p:txBody>
            <a:bodyPr wrap="square" lIns="0" tIns="0" rIns="0" bIns="0" rtlCol="0" anchor="ctr"/>
            <a:lstStyle/>
            <a:p>
              <a:pPr marL="0" indent="0" algn="ctr">
                <a:buNone/>
              </a:pPr>
              <a:endParaRPr lang="en-US" sz="1000" dirty="0"/>
            </a:p>
          </p:txBody>
        </p:sp>
        <p:sp>
          <p:nvSpPr>
            <p:cNvPr id="24" name="Shape 22"/>
            <p:cNvSpPr/>
            <p:nvPr/>
          </p:nvSpPr>
          <p:spPr>
            <a:xfrm>
              <a:off x="4343400" y="987552"/>
              <a:ext cx="4480560" cy="3858768"/>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sp>
        <p:sp>
          <p:nvSpPr>
            <p:cNvPr id="25" name="Shape 23"/>
            <p:cNvSpPr/>
            <p:nvPr/>
          </p:nvSpPr>
          <p:spPr>
            <a:xfrm>
              <a:off x="4343400" y="987552"/>
              <a:ext cx="4480560" cy="438912"/>
            </a:xfrm>
            <a:prstGeom prst="rect">
              <a:avLst/>
            </a:prstGeom>
            <a:solidFill>
              <a:srgbClr val="5B2D8E"/>
            </a:solidFill>
            <a:ln w="12700">
              <a:solidFill>
                <a:srgbClr val="5B2D8E"/>
              </a:solidFill>
              <a:prstDash val="solid"/>
            </a:ln>
          </p:spPr>
        </p:sp>
        <p:sp>
          <p:nvSpPr>
            <p:cNvPr id="26" name="Text 24"/>
            <p:cNvSpPr/>
            <p:nvPr/>
          </p:nvSpPr>
          <p:spPr>
            <a:xfrm>
              <a:off x="4498848" y="987552"/>
              <a:ext cx="4160520" cy="43891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Presentation Agenda</a:t>
              </a:r>
              <a:endParaRPr lang="en-US" sz="1400" dirty="0"/>
            </a:p>
          </p:txBody>
        </p:sp>
        <p:sp>
          <p:nvSpPr>
            <p:cNvPr id="27" name="Shape 25"/>
            <p:cNvSpPr/>
            <p:nvPr/>
          </p:nvSpPr>
          <p:spPr>
            <a:xfrm>
              <a:off x="4498848" y="1536192"/>
              <a:ext cx="411480" cy="384048"/>
            </a:xfrm>
            <a:prstGeom prst="rect">
              <a:avLst/>
            </a:prstGeom>
            <a:solidFill>
              <a:srgbClr val="5B2D8E"/>
            </a:solidFill>
            <a:ln w="12700">
              <a:solidFill>
                <a:srgbClr val="5B2D8E"/>
              </a:solidFill>
              <a:prstDash val="solid"/>
            </a:ln>
          </p:spPr>
        </p:sp>
        <p:sp>
          <p:nvSpPr>
            <p:cNvPr id="28" name="Text 26"/>
            <p:cNvSpPr/>
            <p:nvPr/>
          </p:nvSpPr>
          <p:spPr>
            <a:xfrm>
              <a:off x="4498848" y="1536192"/>
              <a:ext cx="411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29" name="Text 27"/>
            <p:cNvSpPr/>
            <p:nvPr/>
          </p:nvSpPr>
          <p:spPr>
            <a:xfrm>
              <a:off x="4992624" y="1572768"/>
              <a:ext cx="3657600" cy="329184"/>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ea typeface="Arial" pitchFamily="34" charset="-122"/>
                  <a:cs typeface="Arial" pitchFamily="34" charset="-120"/>
                </a:rPr>
                <a:t>Problem Statement</a:t>
              </a:r>
              <a:endParaRPr lang="en-US" sz="1200" dirty="0"/>
            </a:p>
          </p:txBody>
        </p:sp>
        <p:sp>
          <p:nvSpPr>
            <p:cNvPr id="30" name="Shape 28"/>
            <p:cNvSpPr/>
            <p:nvPr/>
          </p:nvSpPr>
          <p:spPr>
            <a:xfrm>
              <a:off x="4498848" y="2176272"/>
              <a:ext cx="411480" cy="384048"/>
            </a:xfrm>
            <a:prstGeom prst="rect">
              <a:avLst/>
            </a:prstGeom>
            <a:solidFill>
              <a:srgbClr val="7B4DB5"/>
            </a:solidFill>
            <a:ln w="12700">
              <a:solidFill>
                <a:srgbClr val="7B4DB5"/>
              </a:solidFill>
              <a:prstDash val="solid"/>
            </a:ln>
          </p:spPr>
        </p:sp>
        <p:sp>
          <p:nvSpPr>
            <p:cNvPr id="31" name="Text 29"/>
            <p:cNvSpPr/>
            <p:nvPr/>
          </p:nvSpPr>
          <p:spPr>
            <a:xfrm>
              <a:off x="4498848" y="2176272"/>
              <a:ext cx="411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32" name="Text 30"/>
            <p:cNvSpPr/>
            <p:nvPr/>
          </p:nvSpPr>
          <p:spPr>
            <a:xfrm>
              <a:off x="4992624" y="2212848"/>
              <a:ext cx="3657600" cy="329184"/>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ea typeface="Arial" pitchFamily="34" charset="-122"/>
                  <a:cs typeface="Arial" pitchFamily="34" charset="-120"/>
                </a:rPr>
                <a:t>Design Process  (Empathize → Test)</a:t>
              </a:r>
              <a:endParaRPr lang="en-US" sz="1200" dirty="0"/>
            </a:p>
          </p:txBody>
        </p:sp>
        <p:sp>
          <p:nvSpPr>
            <p:cNvPr id="33" name="Shape 31"/>
            <p:cNvSpPr/>
            <p:nvPr/>
          </p:nvSpPr>
          <p:spPr>
            <a:xfrm>
              <a:off x="4498848" y="2816352"/>
              <a:ext cx="411480" cy="384048"/>
            </a:xfrm>
            <a:prstGeom prst="rect">
              <a:avLst/>
            </a:prstGeom>
            <a:solidFill>
              <a:srgbClr val="5B2D8E"/>
            </a:solidFill>
            <a:ln w="12700">
              <a:solidFill>
                <a:srgbClr val="5B2D8E"/>
              </a:solidFill>
              <a:prstDash val="solid"/>
            </a:ln>
          </p:spPr>
        </p:sp>
        <p:sp>
          <p:nvSpPr>
            <p:cNvPr id="34" name="Text 32"/>
            <p:cNvSpPr/>
            <p:nvPr/>
          </p:nvSpPr>
          <p:spPr>
            <a:xfrm>
              <a:off x="4498848" y="2816352"/>
              <a:ext cx="411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35" name="Text 33"/>
            <p:cNvSpPr/>
            <p:nvPr/>
          </p:nvSpPr>
          <p:spPr>
            <a:xfrm>
              <a:off x="4992624" y="2852928"/>
              <a:ext cx="3657600" cy="329184"/>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ea typeface="Arial" pitchFamily="34" charset="-122"/>
                  <a:cs typeface="Arial" pitchFamily="34" charset="-120"/>
                </a:rPr>
                <a:t>Final Solution &amp; Prototype Demo</a:t>
              </a:r>
              <a:endParaRPr lang="en-US" sz="1200" dirty="0"/>
            </a:p>
          </p:txBody>
        </p:sp>
        <p:sp>
          <p:nvSpPr>
            <p:cNvPr id="36" name="Shape 34"/>
            <p:cNvSpPr/>
            <p:nvPr/>
          </p:nvSpPr>
          <p:spPr>
            <a:xfrm>
              <a:off x="4498848" y="3456432"/>
              <a:ext cx="411480" cy="384048"/>
            </a:xfrm>
            <a:prstGeom prst="rect">
              <a:avLst/>
            </a:prstGeom>
            <a:solidFill>
              <a:srgbClr val="7B4DB5"/>
            </a:solidFill>
            <a:ln w="12700">
              <a:solidFill>
                <a:srgbClr val="7B4DB5"/>
              </a:solidFill>
              <a:prstDash val="solid"/>
            </a:ln>
          </p:spPr>
        </p:sp>
        <p:sp>
          <p:nvSpPr>
            <p:cNvPr id="37" name="Text 35"/>
            <p:cNvSpPr/>
            <p:nvPr/>
          </p:nvSpPr>
          <p:spPr>
            <a:xfrm>
              <a:off x="4498848" y="3456432"/>
              <a:ext cx="411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38" name="Text 36"/>
            <p:cNvSpPr/>
            <p:nvPr/>
          </p:nvSpPr>
          <p:spPr>
            <a:xfrm>
              <a:off x="4992624" y="3493008"/>
              <a:ext cx="3657600" cy="329184"/>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ea typeface="Arial" pitchFamily="34" charset="-122"/>
                  <a:cs typeface="Arial" pitchFamily="34" charset="-120"/>
                </a:rPr>
                <a:t>Testing &amp; Validation Results</a:t>
              </a:r>
              <a:endParaRPr lang="en-US" sz="1200" dirty="0"/>
            </a:p>
          </p:txBody>
        </p:sp>
        <p:sp>
          <p:nvSpPr>
            <p:cNvPr id="39" name="Shape 37"/>
            <p:cNvSpPr/>
            <p:nvPr/>
          </p:nvSpPr>
          <p:spPr>
            <a:xfrm>
              <a:off x="4498848" y="4096512"/>
              <a:ext cx="411480" cy="384048"/>
            </a:xfrm>
            <a:prstGeom prst="rect">
              <a:avLst/>
            </a:prstGeom>
            <a:solidFill>
              <a:srgbClr val="5B2D8E"/>
            </a:solidFill>
            <a:ln w="12700">
              <a:solidFill>
                <a:srgbClr val="5B2D8E"/>
              </a:solidFill>
              <a:prstDash val="solid"/>
            </a:ln>
          </p:spPr>
        </p:sp>
        <p:sp>
          <p:nvSpPr>
            <p:cNvPr id="40" name="Text 38"/>
            <p:cNvSpPr/>
            <p:nvPr/>
          </p:nvSpPr>
          <p:spPr>
            <a:xfrm>
              <a:off x="4498848" y="4096512"/>
              <a:ext cx="411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05</a:t>
              </a:r>
              <a:endParaRPr lang="en-US" sz="1200" dirty="0"/>
            </a:p>
          </p:txBody>
        </p:sp>
        <p:sp>
          <p:nvSpPr>
            <p:cNvPr id="41" name="Text 39"/>
            <p:cNvSpPr/>
            <p:nvPr/>
          </p:nvSpPr>
          <p:spPr>
            <a:xfrm>
              <a:off x="4992624" y="4133088"/>
              <a:ext cx="3657600" cy="329184"/>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ea typeface="Arial" pitchFamily="34" charset="-122"/>
                  <a:cs typeface="Arial" pitchFamily="34" charset="-120"/>
                </a:rPr>
                <a:t>Reflections &amp; Key Learnings</a:t>
              </a:r>
              <a:endParaRPr lang="en-US" sz="1200" dirty="0"/>
            </a:p>
          </p:txBody>
        </p:sp>
        <p:sp>
          <p:nvSpPr>
            <p:cNvPr id="42" name="Text 40"/>
            <p:cNvSpPr/>
            <p:nvPr/>
          </p:nvSpPr>
          <p:spPr>
            <a:xfrm>
              <a:off x="8686800" y="4846320"/>
              <a:ext cx="36576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2</a:t>
              </a:r>
              <a:endParaRPr lang="en-US" sz="900"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B2D8E"/>
          </a:solidFill>
          <a:ln w="12700">
            <a:solidFill>
              <a:srgbClr val="5B2D8E"/>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Text 2"/>
          <p:cNvSpPr/>
          <p:nvPr/>
        </p:nvSpPr>
        <p:spPr>
          <a:xfrm>
            <a:off x="365760" y="237744"/>
            <a:ext cx="8412480" cy="594360"/>
          </a:xfrm>
          <a:prstGeom prst="rect">
            <a:avLst/>
          </a:prstGeom>
          <a:noFill/>
          <a:ln/>
        </p:spPr>
        <p:txBody>
          <a:bodyPr wrap="square" lIns="0" tIns="0" rIns="0" bIns="0" rtlCol="0" anchor="ctr"/>
          <a:lstStyle/>
          <a:p>
            <a:pPr marL="0" indent="0" algn="l">
              <a:buNone/>
            </a:pPr>
            <a:r>
              <a:rPr lang="en-US" sz="2400" b="1" dirty="0">
                <a:solidFill>
                  <a:srgbClr val="5B2D8E"/>
                </a:solidFill>
                <a:latin typeface="Arial" pitchFamily="34" charset="0"/>
                <a:ea typeface="Arial" pitchFamily="34" charset="-122"/>
                <a:cs typeface="Arial" pitchFamily="34" charset="-120"/>
              </a:rPr>
              <a:t>Problem Statement</a:t>
            </a:r>
            <a:endParaRPr lang="en-US" sz="2400" dirty="0"/>
          </a:p>
        </p:txBody>
      </p:sp>
      <p:sp>
        <p:nvSpPr>
          <p:cNvPr id="5" name="Shape 3"/>
          <p:cNvSpPr/>
          <p:nvPr/>
        </p:nvSpPr>
        <p:spPr>
          <a:xfrm>
            <a:off x="365760" y="850392"/>
            <a:ext cx="8412480" cy="27432"/>
          </a:xfrm>
          <a:prstGeom prst="rect">
            <a:avLst/>
          </a:prstGeom>
          <a:solidFill>
            <a:srgbClr val="D1C4E9"/>
          </a:solidFill>
          <a:ln w="12700">
            <a:solidFill>
              <a:srgbClr val="D1C4E9"/>
            </a:solidFill>
            <a:prstDash val="solid"/>
          </a:ln>
        </p:spPr>
      </p:sp>
      <p:sp>
        <p:nvSpPr>
          <p:cNvPr id="6" name="Shape 4"/>
          <p:cNvSpPr/>
          <p:nvPr/>
        </p:nvSpPr>
        <p:spPr>
          <a:xfrm>
            <a:off x="320040" y="987552"/>
            <a:ext cx="8503920" cy="1325880"/>
          </a:xfrm>
          <a:prstGeom prst="rect">
            <a:avLst/>
          </a:prstGeom>
          <a:solidFill>
            <a:srgbClr val="FFFDE7"/>
          </a:solidFill>
          <a:ln w="12700">
            <a:solidFill>
              <a:srgbClr val="F5C518"/>
            </a:solidFill>
            <a:prstDash val="solid"/>
          </a:ln>
          <a:effectLst>
            <a:outerShdw blurRad="76200" dist="25400" dir="8100000" algn="bl" rotWithShape="0">
              <a:srgbClr val="000000">
                <a:alpha val="10000"/>
              </a:srgbClr>
            </a:outerShdw>
          </a:effectLst>
        </p:spPr>
      </p:sp>
      <p:sp>
        <p:nvSpPr>
          <p:cNvPr id="7" name="Shape 5"/>
          <p:cNvSpPr/>
          <p:nvPr/>
        </p:nvSpPr>
        <p:spPr>
          <a:xfrm>
            <a:off x="320040" y="987552"/>
            <a:ext cx="109728" cy="1325880"/>
          </a:xfrm>
          <a:prstGeom prst="rect">
            <a:avLst/>
          </a:prstGeom>
          <a:solidFill>
            <a:srgbClr val="F5C518"/>
          </a:solidFill>
          <a:ln w="12700">
            <a:solidFill>
              <a:srgbClr val="F5C518"/>
            </a:solidFill>
            <a:prstDash val="solid"/>
          </a:ln>
        </p:spPr>
      </p:sp>
      <p:sp>
        <p:nvSpPr>
          <p:cNvPr id="8" name="Text 6"/>
          <p:cNvSpPr/>
          <p:nvPr/>
        </p:nvSpPr>
        <p:spPr>
          <a:xfrm>
            <a:off x="548640" y="1024128"/>
            <a:ext cx="8138160" cy="320040"/>
          </a:xfrm>
          <a:prstGeom prst="rect">
            <a:avLst/>
          </a:prstGeom>
          <a:noFill/>
          <a:ln/>
        </p:spPr>
        <p:txBody>
          <a:bodyPr wrap="square" lIns="0" tIns="0" rIns="0" bIns="0" rtlCol="0" anchor="ctr"/>
          <a:lstStyle/>
          <a:p>
            <a:pPr marL="0" indent="0">
              <a:buNone/>
            </a:pPr>
            <a:r>
              <a:rPr lang="en-US" sz="1200" b="1" dirty="0">
                <a:solidFill>
                  <a:srgbClr val="7A5C00"/>
                </a:solidFill>
                <a:latin typeface="Arial" pitchFamily="34" charset="0"/>
                <a:ea typeface="Arial" pitchFamily="34" charset="-122"/>
                <a:cs typeface="Arial" pitchFamily="34" charset="-120"/>
              </a:rPr>
              <a:t>Point of View (POV) Statement</a:t>
            </a:r>
            <a:endParaRPr lang="en-US" sz="1200" dirty="0"/>
          </a:p>
        </p:txBody>
      </p:sp>
      <p:sp>
        <p:nvSpPr>
          <p:cNvPr id="9" name="Text 7"/>
          <p:cNvSpPr/>
          <p:nvPr/>
        </p:nvSpPr>
        <p:spPr>
          <a:xfrm>
            <a:off x="548640" y="1371600"/>
            <a:ext cx="8138160" cy="804672"/>
          </a:xfrm>
          <a:prstGeom prst="rect">
            <a:avLst/>
          </a:prstGeom>
          <a:noFill/>
          <a:ln/>
        </p:spPr>
        <p:txBody>
          <a:bodyPr wrap="square" lIns="0" tIns="0" rIns="0" bIns="0" rtlCol="0" anchor="t"/>
          <a:lstStyle/>
          <a:p>
            <a:pPr marL="0" indent="0">
              <a:buNone/>
            </a:pPr>
            <a:r>
              <a:rPr lang="en-US" sz="1300" i="1" dirty="0">
                <a:solidFill>
                  <a:srgbClr val="333333"/>
                </a:solidFill>
                <a:latin typeface="Arial" pitchFamily="34" charset="0"/>
                <a:ea typeface="Arial" pitchFamily="34" charset="-122"/>
                <a:cs typeface="Arial" pitchFamily="34" charset="-120"/>
              </a:rPr>
              <a:t>[User] needs [need] because [insight]</a:t>
            </a:r>
            <a:endParaRPr lang="en-US" sz="1300" dirty="0"/>
          </a:p>
          <a:p>
            <a:pPr marL="0" indent="0">
              <a:buNone/>
            </a:pPr>
            <a:r>
              <a:rPr lang="en-US" sz="1300" i="1" dirty="0">
                <a:solidFill>
                  <a:srgbClr val="333333"/>
                </a:solidFill>
                <a:latin typeface="Arial" pitchFamily="34" charset="0"/>
                <a:ea typeface="Arial" pitchFamily="34" charset="-122"/>
                <a:cs typeface="Arial" pitchFamily="34" charset="-120"/>
              </a:rPr>
              <a:t>→ Write your team's POV statement here clearly and concisely.</a:t>
            </a:r>
            <a:endParaRPr lang="en-US" sz="1300" dirty="0"/>
          </a:p>
        </p:txBody>
      </p:sp>
      <p:sp>
        <p:nvSpPr>
          <p:cNvPr id="10" name="Shape 8"/>
          <p:cNvSpPr/>
          <p:nvPr/>
        </p:nvSpPr>
        <p:spPr>
          <a:xfrm>
            <a:off x="320040" y="2487168"/>
            <a:ext cx="2743200" cy="2546604"/>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txBody>
          <a:bodyPr/>
          <a:lstStyle/>
          <a:p>
            <a:endParaRPr lang="en-IN" dirty="0"/>
          </a:p>
        </p:txBody>
      </p:sp>
      <p:sp>
        <p:nvSpPr>
          <p:cNvPr id="11" name="Shape 9"/>
          <p:cNvSpPr/>
          <p:nvPr/>
        </p:nvSpPr>
        <p:spPr>
          <a:xfrm>
            <a:off x="320040" y="2487168"/>
            <a:ext cx="2743200" cy="420624"/>
          </a:xfrm>
          <a:prstGeom prst="rect">
            <a:avLst/>
          </a:prstGeom>
          <a:solidFill>
            <a:srgbClr val="5B2D8E"/>
          </a:solidFill>
          <a:ln w="12700">
            <a:solidFill>
              <a:srgbClr val="5B2D8E"/>
            </a:solidFill>
            <a:prstDash val="solid"/>
          </a:ln>
        </p:spPr>
      </p:sp>
      <p:sp>
        <p:nvSpPr>
          <p:cNvPr id="12" name="Text 10"/>
          <p:cNvSpPr/>
          <p:nvPr/>
        </p:nvSpPr>
        <p:spPr>
          <a:xfrm>
            <a:off x="457200" y="2487168"/>
            <a:ext cx="2468880" cy="420624"/>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  The Challenge</a:t>
            </a:r>
            <a:endParaRPr lang="en-US" sz="1300" dirty="0"/>
          </a:p>
        </p:txBody>
      </p:sp>
      <p:sp>
        <p:nvSpPr>
          <p:cNvPr id="13" name="Shape 11"/>
          <p:cNvSpPr/>
          <p:nvPr/>
        </p:nvSpPr>
        <p:spPr>
          <a:xfrm>
            <a:off x="457200" y="2926080"/>
            <a:ext cx="2468880" cy="36576"/>
          </a:xfrm>
          <a:prstGeom prst="rect">
            <a:avLst/>
          </a:prstGeom>
          <a:solidFill>
            <a:srgbClr val="F5C518"/>
          </a:solidFill>
          <a:ln w="12700">
            <a:solidFill>
              <a:srgbClr val="F5C518"/>
            </a:solidFill>
            <a:prstDash val="solid"/>
          </a:ln>
        </p:spPr>
      </p:sp>
      <p:sp>
        <p:nvSpPr>
          <p:cNvPr id="14" name="Text 12"/>
          <p:cNvSpPr/>
          <p:nvPr/>
        </p:nvSpPr>
        <p:spPr>
          <a:xfrm>
            <a:off x="374904" y="3017520"/>
            <a:ext cx="2551176" cy="1762506"/>
          </a:xfrm>
          <a:prstGeom prst="rect">
            <a:avLst/>
          </a:prstGeom>
          <a:noFill/>
          <a:ln/>
        </p:spPr>
        <p:txBody>
          <a:bodyPr wrap="square" lIns="0" tIns="0" rIns="0" bIns="0" rtlCol="0" anchor="t"/>
          <a:lstStyle/>
          <a:p>
            <a:pPr algn="just"/>
            <a:r>
              <a:rPr lang="en-US" sz="1400" dirty="0"/>
              <a:t>Many individuals, especially women, students, and people traveling alone at night, face unsafe situations where immediate help is difficult to access. Existing emergency systems depend heavily on internet connectivity and manual communication, which may fail during critical situations.</a:t>
            </a:r>
          </a:p>
        </p:txBody>
      </p:sp>
      <p:sp>
        <p:nvSpPr>
          <p:cNvPr id="15" name="Shape 13"/>
          <p:cNvSpPr/>
          <p:nvPr/>
        </p:nvSpPr>
        <p:spPr>
          <a:xfrm>
            <a:off x="3172968" y="2487168"/>
            <a:ext cx="2743200" cy="2546604"/>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16" name="Shape 14"/>
          <p:cNvSpPr/>
          <p:nvPr/>
        </p:nvSpPr>
        <p:spPr>
          <a:xfrm>
            <a:off x="3172968" y="2487168"/>
            <a:ext cx="2743200" cy="420624"/>
          </a:xfrm>
          <a:prstGeom prst="rect">
            <a:avLst/>
          </a:prstGeom>
          <a:solidFill>
            <a:srgbClr val="7B4DB5"/>
          </a:solidFill>
          <a:ln w="12700">
            <a:solidFill>
              <a:srgbClr val="7B4DB5"/>
            </a:solidFill>
            <a:prstDash val="solid"/>
          </a:ln>
        </p:spPr>
      </p:sp>
      <p:sp>
        <p:nvSpPr>
          <p:cNvPr id="17" name="Text 15"/>
          <p:cNvSpPr/>
          <p:nvPr/>
        </p:nvSpPr>
        <p:spPr>
          <a:xfrm>
            <a:off x="3310128" y="2487168"/>
            <a:ext cx="2468880" cy="420624"/>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  Who is Affected?</a:t>
            </a:r>
            <a:endParaRPr lang="en-US" sz="1300" dirty="0"/>
          </a:p>
        </p:txBody>
      </p:sp>
      <p:sp>
        <p:nvSpPr>
          <p:cNvPr id="18" name="Shape 16"/>
          <p:cNvSpPr/>
          <p:nvPr/>
        </p:nvSpPr>
        <p:spPr>
          <a:xfrm>
            <a:off x="3310128" y="2926080"/>
            <a:ext cx="2468880" cy="36576"/>
          </a:xfrm>
          <a:prstGeom prst="rect">
            <a:avLst/>
          </a:prstGeom>
          <a:solidFill>
            <a:srgbClr val="F5C518"/>
          </a:solidFill>
          <a:ln w="12700">
            <a:solidFill>
              <a:srgbClr val="F5C518"/>
            </a:solidFill>
            <a:prstDash val="solid"/>
          </a:ln>
        </p:spPr>
      </p:sp>
      <p:sp>
        <p:nvSpPr>
          <p:cNvPr id="20" name="Shape 18"/>
          <p:cNvSpPr/>
          <p:nvPr/>
        </p:nvSpPr>
        <p:spPr>
          <a:xfrm>
            <a:off x="6025896" y="2487168"/>
            <a:ext cx="2743200" cy="2531418"/>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21" name="Shape 19"/>
          <p:cNvSpPr/>
          <p:nvPr/>
        </p:nvSpPr>
        <p:spPr>
          <a:xfrm>
            <a:off x="6025896" y="2487168"/>
            <a:ext cx="2743200" cy="420624"/>
          </a:xfrm>
          <a:prstGeom prst="rect">
            <a:avLst/>
          </a:prstGeom>
          <a:solidFill>
            <a:srgbClr val="9C6FCC"/>
          </a:solidFill>
          <a:ln w="12700">
            <a:solidFill>
              <a:srgbClr val="9C6FCC"/>
            </a:solidFill>
            <a:prstDash val="solid"/>
          </a:ln>
        </p:spPr>
      </p:sp>
      <p:sp>
        <p:nvSpPr>
          <p:cNvPr id="22" name="Text 20"/>
          <p:cNvSpPr/>
          <p:nvPr/>
        </p:nvSpPr>
        <p:spPr>
          <a:xfrm>
            <a:off x="6163056" y="2487168"/>
            <a:ext cx="2468880" cy="420624"/>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  Why It Matters</a:t>
            </a:r>
            <a:endParaRPr lang="en-US" sz="1300" dirty="0"/>
          </a:p>
        </p:txBody>
      </p:sp>
      <p:sp>
        <p:nvSpPr>
          <p:cNvPr id="23" name="Shape 21"/>
          <p:cNvSpPr/>
          <p:nvPr/>
        </p:nvSpPr>
        <p:spPr>
          <a:xfrm>
            <a:off x="6163056" y="2926080"/>
            <a:ext cx="2468880" cy="36576"/>
          </a:xfrm>
          <a:prstGeom prst="rect">
            <a:avLst/>
          </a:prstGeom>
          <a:solidFill>
            <a:srgbClr val="F5C518"/>
          </a:solidFill>
          <a:ln w="12700">
            <a:solidFill>
              <a:srgbClr val="F5C518"/>
            </a:solidFill>
            <a:prstDash val="solid"/>
          </a:ln>
        </p:spPr>
      </p:sp>
      <p:sp>
        <p:nvSpPr>
          <p:cNvPr id="24" name="Text 22"/>
          <p:cNvSpPr/>
          <p:nvPr/>
        </p:nvSpPr>
        <p:spPr>
          <a:xfrm>
            <a:off x="6163056" y="3127248"/>
            <a:ext cx="2468880" cy="1581912"/>
          </a:xfrm>
          <a:prstGeom prst="rect">
            <a:avLst/>
          </a:prstGeom>
          <a:noFill/>
          <a:ln/>
        </p:spPr>
        <p:txBody>
          <a:bodyPr wrap="square" lIns="0" tIns="0" rIns="0" bIns="0" rtlCol="0" anchor="t"/>
          <a:lstStyle/>
          <a:p>
            <a:r>
              <a:rPr lang="en-US" sz="1400" dirty="0"/>
              <a:t>Delays in emergency response can lead to severe consequences. A smart safety solution capable of providing rapid alerts, location tracking, and offline emergency communication can significantly improve personal safety and emergency response efficiency.</a:t>
            </a:r>
          </a:p>
        </p:txBody>
      </p:sp>
      <p:sp>
        <p:nvSpPr>
          <p:cNvPr id="25" name="Text 23"/>
          <p:cNvSpPr/>
          <p:nvPr/>
        </p:nvSpPr>
        <p:spPr>
          <a:xfrm>
            <a:off x="8686800" y="4846320"/>
            <a:ext cx="36576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3</a:t>
            </a:r>
            <a:endParaRPr lang="en-US" sz="900" dirty="0"/>
          </a:p>
        </p:txBody>
      </p:sp>
      <p:sp>
        <p:nvSpPr>
          <p:cNvPr id="31" name="Rectangle 6">
            <a:extLst>
              <a:ext uri="{FF2B5EF4-FFF2-40B4-BE49-F238E27FC236}">
                <a16:creationId xmlns:a16="http://schemas.microsoft.com/office/drawing/2014/main" id="{E6FF018D-CEDA-0176-A7FF-914E04312158}"/>
              </a:ext>
            </a:extLst>
          </p:cNvPr>
          <p:cNvSpPr>
            <a:spLocks noChangeArrowheads="1"/>
          </p:cNvSpPr>
          <p:nvPr/>
        </p:nvSpPr>
        <p:spPr bwMode="auto">
          <a:xfrm>
            <a:off x="3310128" y="2811763"/>
            <a:ext cx="2743200" cy="220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Women traveling alone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Students returning late at night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Elderly people living independently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Individuals in isolated or unsafe locations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7B4DB5"/>
          </a:solidFill>
          <a:ln w="12700">
            <a:solidFill>
              <a:srgbClr val="7B4DB5"/>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Shape 2"/>
          <p:cNvSpPr/>
          <p:nvPr/>
        </p:nvSpPr>
        <p:spPr>
          <a:xfrm>
            <a:off x="320040" y="256032"/>
            <a:ext cx="1005840" cy="566928"/>
          </a:xfrm>
          <a:prstGeom prst="rect">
            <a:avLst/>
          </a:prstGeom>
          <a:solidFill>
            <a:srgbClr val="7B4DB5"/>
          </a:solidFill>
          <a:ln w="12700">
            <a:solidFill>
              <a:srgbClr val="7B4DB5"/>
            </a:solidFill>
            <a:prstDash val="solid"/>
          </a:ln>
        </p:spPr>
      </p:sp>
      <p:sp>
        <p:nvSpPr>
          <p:cNvPr id="5" name="Text 3"/>
          <p:cNvSpPr/>
          <p:nvPr/>
        </p:nvSpPr>
        <p:spPr>
          <a:xfrm>
            <a:off x="320040" y="256032"/>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Stage 1</a:t>
            </a:r>
            <a:endParaRPr lang="en-US" sz="900" dirty="0"/>
          </a:p>
        </p:txBody>
      </p:sp>
      <p:sp>
        <p:nvSpPr>
          <p:cNvPr id="6" name="Text 4"/>
          <p:cNvSpPr/>
          <p:nvPr/>
        </p:nvSpPr>
        <p:spPr>
          <a:xfrm>
            <a:off x="1463040" y="274320"/>
            <a:ext cx="7315200" cy="530352"/>
          </a:xfrm>
          <a:prstGeom prst="rect">
            <a:avLst/>
          </a:prstGeom>
          <a:noFill/>
          <a:ln/>
        </p:spPr>
        <p:txBody>
          <a:bodyPr wrap="square" lIns="0" tIns="0" rIns="0" bIns="0" rtlCol="0" anchor="ctr"/>
          <a:lstStyle/>
          <a:p>
            <a:pPr marL="0" indent="0" algn="l">
              <a:buNone/>
            </a:pPr>
            <a:r>
              <a:rPr lang="en-US" sz="2600" b="1" dirty="0">
                <a:solidFill>
                  <a:srgbClr val="5B2D8E"/>
                </a:solidFill>
                <a:latin typeface="Arial" pitchFamily="34" charset="0"/>
                <a:ea typeface="Arial" pitchFamily="34" charset="-122"/>
                <a:cs typeface="Arial" pitchFamily="34" charset="-120"/>
              </a:rPr>
              <a:t>Empathize</a:t>
            </a:r>
            <a:endParaRPr lang="en-US" sz="2600" dirty="0"/>
          </a:p>
        </p:txBody>
      </p:sp>
      <p:sp>
        <p:nvSpPr>
          <p:cNvPr id="7" name="Shape 5"/>
          <p:cNvSpPr/>
          <p:nvPr/>
        </p:nvSpPr>
        <p:spPr>
          <a:xfrm>
            <a:off x="320040" y="914400"/>
            <a:ext cx="1572768" cy="274320"/>
          </a:xfrm>
          <a:prstGeom prst="rect">
            <a:avLst/>
          </a:prstGeom>
          <a:solidFill>
            <a:srgbClr val="7B4DB5"/>
          </a:solidFill>
          <a:ln w="12700">
            <a:solidFill>
              <a:srgbClr val="7B4DB5"/>
            </a:solidFill>
            <a:prstDash val="solid"/>
          </a:ln>
        </p:spPr>
      </p:sp>
      <p:sp>
        <p:nvSpPr>
          <p:cNvPr id="8" name="Text 6"/>
          <p:cNvSpPr/>
          <p:nvPr/>
        </p:nvSpPr>
        <p:spPr>
          <a:xfrm>
            <a:off x="320040" y="914400"/>
            <a:ext cx="15727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Empathize</a:t>
            </a:r>
            <a:endParaRPr lang="en-US" sz="900" dirty="0"/>
          </a:p>
        </p:txBody>
      </p:sp>
      <p:sp>
        <p:nvSpPr>
          <p:cNvPr id="9" name="Shape 7"/>
          <p:cNvSpPr/>
          <p:nvPr/>
        </p:nvSpPr>
        <p:spPr>
          <a:xfrm>
            <a:off x="2039112" y="914400"/>
            <a:ext cx="1572768" cy="274320"/>
          </a:xfrm>
          <a:prstGeom prst="rect">
            <a:avLst/>
          </a:prstGeom>
          <a:solidFill>
            <a:srgbClr val="DDDDDD"/>
          </a:solidFill>
          <a:ln w="12700">
            <a:solidFill>
              <a:srgbClr val="DDDDDD"/>
            </a:solidFill>
            <a:prstDash val="solid"/>
          </a:ln>
        </p:spPr>
      </p:sp>
      <p:sp>
        <p:nvSpPr>
          <p:cNvPr id="10" name="Text 8"/>
          <p:cNvSpPr/>
          <p:nvPr/>
        </p:nvSpPr>
        <p:spPr>
          <a:xfrm>
            <a:off x="2039112" y="914400"/>
            <a:ext cx="1572768"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Define</a:t>
            </a:r>
            <a:endParaRPr lang="en-US" sz="900" dirty="0"/>
          </a:p>
        </p:txBody>
      </p:sp>
      <p:sp>
        <p:nvSpPr>
          <p:cNvPr id="11" name="Shape 9"/>
          <p:cNvSpPr/>
          <p:nvPr/>
        </p:nvSpPr>
        <p:spPr>
          <a:xfrm>
            <a:off x="3758184" y="914400"/>
            <a:ext cx="1572768" cy="274320"/>
          </a:xfrm>
          <a:prstGeom prst="rect">
            <a:avLst/>
          </a:prstGeom>
          <a:solidFill>
            <a:srgbClr val="DDDDDD"/>
          </a:solidFill>
          <a:ln w="12700">
            <a:solidFill>
              <a:srgbClr val="DDDDDD"/>
            </a:solidFill>
            <a:prstDash val="solid"/>
          </a:ln>
        </p:spPr>
      </p:sp>
      <p:sp>
        <p:nvSpPr>
          <p:cNvPr id="12" name="Text 10"/>
          <p:cNvSpPr/>
          <p:nvPr/>
        </p:nvSpPr>
        <p:spPr>
          <a:xfrm>
            <a:off x="3758184" y="914400"/>
            <a:ext cx="1572768"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Ideate</a:t>
            </a:r>
            <a:endParaRPr lang="en-US" sz="900" dirty="0"/>
          </a:p>
        </p:txBody>
      </p:sp>
      <p:sp>
        <p:nvSpPr>
          <p:cNvPr id="13" name="Shape 11"/>
          <p:cNvSpPr/>
          <p:nvPr/>
        </p:nvSpPr>
        <p:spPr>
          <a:xfrm>
            <a:off x="5477256" y="914400"/>
            <a:ext cx="1572768" cy="274320"/>
          </a:xfrm>
          <a:prstGeom prst="rect">
            <a:avLst/>
          </a:prstGeom>
          <a:solidFill>
            <a:srgbClr val="DDDDDD"/>
          </a:solidFill>
          <a:ln w="12700">
            <a:solidFill>
              <a:srgbClr val="DDDDDD"/>
            </a:solidFill>
            <a:prstDash val="solid"/>
          </a:ln>
        </p:spPr>
      </p:sp>
      <p:sp>
        <p:nvSpPr>
          <p:cNvPr id="14" name="Text 12"/>
          <p:cNvSpPr/>
          <p:nvPr/>
        </p:nvSpPr>
        <p:spPr>
          <a:xfrm>
            <a:off x="5477256" y="914400"/>
            <a:ext cx="1572768"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Prototype</a:t>
            </a:r>
            <a:endParaRPr lang="en-US" sz="900" dirty="0"/>
          </a:p>
        </p:txBody>
      </p:sp>
      <p:sp>
        <p:nvSpPr>
          <p:cNvPr id="15" name="Shape 13"/>
          <p:cNvSpPr/>
          <p:nvPr/>
        </p:nvSpPr>
        <p:spPr>
          <a:xfrm>
            <a:off x="7196328" y="914400"/>
            <a:ext cx="1572768" cy="274320"/>
          </a:xfrm>
          <a:prstGeom prst="rect">
            <a:avLst/>
          </a:prstGeom>
          <a:solidFill>
            <a:srgbClr val="DDDDDD"/>
          </a:solidFill>
          <a:ln w="12700">
            <a:solidFill>
              <a:srgbClr val="DDDDDD"/>
            </a:solidFill>
            <a:prstDash val="solid"/>
          </a:ln>
        </p:spPr>
      </p:sp>
      <p:sp>
        <p:nvSpPr>
          <p:cNvPr id="16" name="Text 14"/>
          <p:cNvSpPr/>
          <p:nvPr/>
        </p:nvSpPr>
        <p:spPr>
          <a:xfrm>
            <a:off x="7196328" y="914400"/>
            <a:ext cx="1572768"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Test</a:t>
            </a:r>
            <a:endParaRPr lang="en-US" sz="900" dirty="0"/>
          </a:p>
        </p:txBody>
      </p:sp>
      <p:sp>
        <p:nvSpPr>
          <p:cNvPr id="17" name="Shape 15"/>
          <p:cNvSpPr/>
          <p:nvPr/>
        </p:nvSpPr>
        <p:spPr>
          <a:xfrm>
            <a:off x="320040" y="1325880"/>
            <a:ext cx="2743200" cy="3520440"/>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18" name="Shape 16"/>
          <p:cNvSpPr/>
          <p:nvPr/>
        </p:nvSpPr>
        <p:spPr>
          <a:xfrm>
            <a:off x="320040" y="1325880"/>
            <a:ext cx="2743200" cy="411480"/>
          </a:xfrm>
          <a:prstGeom prst="rect">
            <a:avLst/>
          </a:prstGeom>
          <a:solidFill>
            <a:srgbClr val="7B4DB5"/>
          </a:solidFill>
          <a:ln w="12700">
            <a:solidFill>
              <a:srgbClr val="7B4DB5"/>
            </a:solidFill>
            <a:prstDash val="solid"/>
          </a:ln>
        </p:spPr>
      </p:sp>
      <p:sp>
        <p:nvSpPr>
          <p:cNvPr id="19" name="Text 17"/>
          <p:cNvSpPr/>
          <p:nvPr/>
        </p:nvSpPr>
        <p:spPr>
          <a:xfrm>
            <a:off x="457200" y="1325880"/>
            <a:ext cx="246888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What We Did</a:t>
            </a:r>
            <a:endParaRPr lang="en-US" sz="1200" dirty="0"/>
          </a:p>
        </p:txBody>
      </p:sp>
      <p:sp>
        <p:nvSpPr>
          <p:cNvPr id="20" name="Text 18"/>
          <p:cNvSpPr/>
          <p:nvPr/>
        </p:nvSpPr>
        <p:spPr>
          <a:xfrm>
            <a:off x="457200" y="1810512"/>
            <a:ext cx="2468880" cy="2926080"/>
          </a:xfrm>
          <a:prstGeom prst="rect">
            <a:avLst/>
          </a:prstGeom>
          <a:noFill/>
          <a:ln/>
        </p:spPr>
        <p:txBody>
          <a:bodyPr wrap="square" lIns="0" tIns="0" rIns="0" bIns="0" rtlCol="0" anchor="t"/>
          <a:lstStyle/>
          <a:p>
            <a:r>
              <a:rPr lang="en-US" sz="1400" dirty="0"/>
              <a:t>We interacted with students, working professionals, and frequent night travelers to understand their safety concerns and emergency communication challenges.</a:t>
            </a:r>
          </a:p>
        </p:txBody>
      </p:sp>
      <p:sp>
        <p:nvSpPr>
          <p:cNvPr id="21" name="Shape 19"/>
          <p:cNvSpPr/>
          <p:nvPr/>
        </p:nvSpPr>
        <p:spPr>
          <a:xfrm>
            <a:off x="3246120" y="1325880"/>
            <a:ext cx="2743200" cy="3520440"/>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txBody>
          <a:bodyPr/>
          <a:lstStyle/>
          <a:p>
            <a:endParaRPr lang="en-IN" dirty="0"/>
          </a:p>
        </p:txBody>
      </p:sp>
      <p:sp>
        <p:nvSpPr>
          <p:cNvPr id="22" name="Shape 20"/>
          <p:cNvSpPr/>
          <p:nvPr/>
        </p:nvSpPr>
        <p:spPr>
          <a:xfrm>
            <a:off x="3246120" y="1325880"/>
            <a:ext cx="2743200" cy="411480"/>
          </a:xfrm>
          <a:prstGeom prst="rect">
            <a:avLst/>
          </a:prstGeom>
          <a:solidFill>
            <a:srgbClr val="5B2D8E"/>
          </a:solidFill>
          <a:ln w="12700">
            <a:solidFill>
              <a:srgbClr val="5B2D8E"/>
            </a:solidFill>
            <a:prstDash val="solid"/>
          </a:ln>
        </p:spPr>
      </p:sp>
      <p:sp>
        <p:nvSpPr>
          <p:cNvPr id="23" name="Text 21"/>
          <p:cNvSpPr/>
          <p:nvPr/>
        </p:nvSpPr>
        <p:spPr>
          <a:xfrm>
            <a:off x="3383280" y="1325880"/>
            <a:ext cx="246888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Methods &amp; Tools</a:t>
            </a:r>
            <a:endParaRPr lang="en-US" sz="1200" dirty="0"/>
          </a:p>
        </p:txBody>
      </p:sp>
      <p:sp>
        <p:nvSpPr>
          <p:cNvPr id="24" name="Text 22"/>
          <p:cNvSpPr/>
          <p:nvPr/>
        </p:nvSpPr>
        <p:spPr>
          <a:xfrm>
            <a:off x="3383280" y="1810512"/>
            <a:ext cx="2468880" cy="2926080"/>
          </a:xfrm>
          <a:prstGeom prst="rect">
            <a:avLst/>
          </a:prstGeom>
          <a:noFill/>
          <a:ln/>
        </p:spPr>
        <p:txBody>
          <a:bodyPr wrap="square" rtlCol="0" anchor="t"/>
          <a:lstStyle/>
          <a:p>
            <a:pPr>
              <a:buSzPct val="100000"/>
            </a:pPr>
            <a:r>
              <a:rPr lang="en-US" sz="1400" dirty="0">
                <a:solidFill>
                  <a:srgbClr val="00B050"/>
                </a:solidFill>
              </a:rPr>
              <a:t>✔</a:t>
            </a:r>
            <a:r>
              <a:rPr lang="en-US" sz="1400" dirty="0"/>
              <a:t> User Interviews</a:t>
            </a:r>
            <a:br>
              <a:rPr lang="en-US" sz="1400" dirty="0"/>
            </a:br>
            <a:r>
              <a:rPr lang="en-US" sz="1400" dirty="0">
                <a:solidFill>
                  <a:srgbClr val="00B050"/>
                </a:solidFill>
              </a:rPr>
              <a:t>✔</a:t>
            </a:r>
            <a:r>
              <a:rPr lang="en-US" sz="1400" dirty="0"/>
              <a:t> Online Surveys</a:t>
            </a:r>
            <a:br>
              <a:rPr lang="en-US" sz="1400" dirty="0"/>
            </a:br>
            <a:r>
              <a:rPr lang="en-US" sz="1400" dirty="0">
                <a:solidFill>
                  <a:srgbClr val="00B050"/>
                </a:solidFill>
              </a:rPr>
              <a:t>✔ </a:t>
            </a:r>
            <a:r>
              <a:rPr lang="en-US" sz="1400" dirty="0"/>
              <a:t>Empathy Mapping</a:t>
            </a:r>
            <a:br>
              <a:rPr lang="en-US" sz="1400" dirty="0"/>
            </a:br>
            <a:r>
              <a:rPr lang="en-US" sz="1400" dirty="0">
                <a:solidFill>
                  <a:srgbClr val="00B050"/>
                </a:solidFill>
              </a:rPr>
              <a:t>✔</a:t>
            </a:r>
            <a:r>
              <a:rPr lang="en-US" sz="1400" dirty="0"/>
              <a:t> Observation-Based Research</a:t>
            </a:r>
          </a:p>
        </p:txBody>
      </p:sp>
      <p:sp>
        <p:nvSpPr>
          <p:cNvPr id="25" name="Shape 23"/>
          <p:cNvSpPr/>
          <p:nvPr/>
        </p:nvSpPr>
        <p:spPr>
          <a:xfrm>
            <a:off x="6172200" y="1325880"/>
            <a:ext cx="2651760" cy="3520440"/>
          </a:xfrm>
          <a:prstGeom prst="rect">
            <a:avLst/>
          </a:prstGeom>
          <a:solidFill>
            <a:srgbClr val="FFFDE7"/>
          </a:solidFill>
          <a:ln w="12700">
            <a:solidFill>
              <a:srgbClr val="F5C518"/>
            </a:solidFill>
            <a:prstDash val="solid"/>
          </a:ln>
          <a:effectLst>
            <a:outerShdw blurRad="76200" dist="25400" dir="8100000" algn="bl" rotWithShape="0">
              <a:srgbClr val="000000">
                <a:alpha val="10000"/>
              </a:srgbClr>
            </a:outerShdw>
          </a:effectLst>
        </p:spPr>
      </p:sp>
      <p:sp>
        <p:nvSpPr>
          <p:cNvPr id="26" name="Shape 24"/>
          <p:cNvSpPr/>
          <p:nvPr/>
        </p:nvSpPr>
        <p:spPr>
          <a:xfrm>
            <a:off x="6172200" y="1325880"/>
            <a:ext cx="2651760" cy="411480"/>
          </a:xfrm>
          <a:prstGeom prst="rect">
            <a:avLst/>
          </a:prstGeom>
          <a:solidFill>
            <a:srgbClr val="F5C518"/>
          </a:solidFill>
          <a:ln w="12700">
            <a:solidFill>
              <a:srgbClr val="F5C518"/>
            </a:solidFill>
            <a:prstDash val="solid"/>
          </a:ln>
        </p:spPr>
      </p:sp>
      <p:sp>
        <p:nvSpPr>
          <p:cNvPr id="27" name="Text 25"/>
          <p:cNvSpPr/>
          <p:nvPr/>
        </p:nvSpPr>
        <p:spPr>
          <a:xfrm>
            <a:off x="6309360" y="1325880"/>
            <a:ext cx="2377440" cy="411480"/>
          </a:xfrm>
          <a:prstGeom prst="rect">
            <a:avLst/>
          </a:prstGeom>
          <a:noFill/>
          <a:ln/>
        </p:spPr>
        <p:txBody>
          <a:bodyPr wrap="square" lIns="0" tIns="0" rIns="0" bIns="0" rtlCol="0" anchor="ctr"/>
          <a:lstStyle/>
          <a:p>
            <a:pPr marL="0" indent="0">
              <a:buNone/>
            </a:pPr>
            <a:r>
              <a:rPr lang="en-US" sz="1200" b="1" dirty="0">
                <a:solidFill>
                  <a:srgbClr val="5B2D8E"/>
                </a:solidFill>
                <a:latin typeface="Arial" pitchFamily="34" charset="0"/>
                <a:ea typeface="Arial" pitchFamily="34" charset="-122"/>
                <a:cs typeface="Arial" pitchFamily="34" charset="-120"/>
              </a:rPr>
              <a:t>✅ Key Takeaway</a:t>
            </a:r>
            <a:endParaRPr lang="en-US" sz="1200" dirty="0"/>
          </a:p>
        </p:txBody>
      </p:sp>
      <p:sp>
        <p:nvSpPr>
          <p:cNvPr id="28" name="Text 26"/>
          <p:cNvSpPr/>
          <p:nvPr/>
        </p:nvSpPr>
        <p:spPr>
          <a:xfrm>
            <a:off x="6309360" y="1810512"/>
            <a:ext cx="2377440" cy="2926080"/>
          </a:xfrm>
          <a:prstGeom prst="rect">
            <a:avLst/>
          </a:prstGeom>
          <a:noFill/>
          <a:ln/>
        </p:spPr>
        <p:txBody>
          <a:bodyPr wrap="square" lIns="0" tIns="0" rIns="0" bIns="0" rtlCol="0" anchor="t"/>
          <a:lstStyle/>
          <a:p>
            <a:r>
              <a:rPr lang="en-US" sz="1400" dirty="0"/>
              <a:t>Users wanted:</a:t>
            </a:r>
          </a:p>
          <a:p>
            <a:endParaRPr lang="en-US" sz="1400" dirty="0"/>
          </a:p>
          <a:p>
            <a:pPr marL="285750" indent="-285750">
              <a:buFont typeface="Arial" panose="020B0604020202020204" pitchFamily="34" charset="0"/>
              <a:buChar char="•"/>
            </a:pPr>
            <a:r>
              <a:rPr lang="en-US" sz="1400" dirty="0"/>
              <a:t>Faster emergency communication </a:t>
            </a:r>
          </a:p>
          <a:p>
            <a:pPr marL="285750" indent="-285750">
              <a:buFont typeface="Arial" panose="020B0604020202020204" pitchFamily="34" charset="0"/>
              <a:buChar char="•"/>
            </a:pPr>
            <a:r>
              <a:rPr lang="en-US" sz="1400" dirty="0"/>
              <a:t>Offline alert capability </a:t>
            </a:r>
          </a:p>
          <a:p>
            <a:pPr marL="285750" indent="-285750">
              <a:buFont typeface="Arial" panose="020B0604020202020204" pitchFamily="34" charset="0"/>
              <a:buChar char="•"/>
            </a:pPr>
            <a:r>
              <a:rPr lang="en-US" sz="1400" dirty="0"/>
              <a:t>Easy-to-use SOS system </a:t>
            </a:r>
          </a:p>
          <a:p>
            <a:pPr marL="285750" indent="-285750">
              <a:buFont typeface="Arial" panose="020B0604020202020204" pitchFamily="34" charset="0"/>
              <a:buChar char="•"/>
            </a:pPr>
            <a:r>
              <a:rPr lang="en-US" sz="1400" dirty="0"/>
              <a:t>Reliable location sharing during emergencies </a:t>
            </a:r>
          </a:p>
          <a:p>
            <a:pPr marL="285750" indent="-285750">
              <a:buFont typeface="Arial" panose="020B0604020202020204" pitchFamily="34" charset="0"/>
              <a:buChar char="•"/>
            </a:pPr>
            <a:endParaRPr lang="en-US" sz="1400" dirty="0"/>
          </a:p>
          <a:p>
            <a:r>
              <a:rPr lang="en-US" sz="1400" b="1" dirty="0">
                <a:solidFill>
                  <a:schemeClr val="accent2"/>
                </a:solidFill>
              </a:rPr>
              <a:t>‘’In dangerous situations, people need </a:t>
            </a:r>
            <a:r>
              <a:rPr lang="en-US" sz="1400" b="1" dirty="0" err="1">
                <a:solidFill>
                  <a:schemeClr val="accent2"/>
                </a:solidFill>
              </a:rPr>
              <a:t>im</a:t>
            </a:r>
            <a:r>
              <a:rPr lang="en-US" sz="1400" b="1" dirty="0">
                <a:solidFill>
                  <a:schemeClr val="accent2"/>
                </a:solidFill>
              </a:rPr>
              <a:t>.”mediate help without wasting time unlocking apps or searching for contacts’’</a:t>
            </a:r>
          </a:p>
          <a:p>
            <a:pPr marL="0" indent="0">
              <a:buNone/>
            </a:pPr>
            <a:endParaRPr lang="en-US" sz="1400" dirty="0"/>
          </a:p>
        </p:txBody>
      </p:sp>
      <p:sp>
        <p:nvSpPr>
          <p:cNvPr id="29" name="Text 27"/>
          <p:cNvSpPr/>
          <p:nvPr/>
        </p:nvSpPr>
        <p:spPr>
          <a:xfrm>
            <a:off x="8686800" y="4846320"/>
            <a:ext cx="36576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B2D8E"/>
          </a:solidFill>
          <a:ln w="12700">
            <a:solidFill>
              <a:srgbClr val="5B2D8E"/>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Shape 2"/>
          <p:cNvSpPr/>
          <p:nvPr/>
        </p:nvSpPr>
        <p:spPr>
          <a:xfrm>
            <a:off x="320040" y="256032"/>
            <a:ext cx="1005840" cy="566928"/>
          </a:xfrm>
          <a:prstGeom prst="rect">
            <a:avLst/>
          </a:prstGeom>
          <a:solidFill>
            <a:srgbClr val="5B2D8E"/>
          </a:solidFill>
          <a:ln w="12700">
            <a:solidFill>
              <a:srgbClr val="5B2D8E"/>
            </a:solidFill>
            <a:prstDash val="solid"/>
          </a:ln>
        </p:spPr>
      </p:sp>
      <p:sp>
        <p:nvSpPr>
          <p:cNvPr id="5" name="Text 3"/>
          <p:cNvSpPr/>
          <p:nvPr/>
        </p:nvSpPr>
        <p:spPr>
          <a:xfrm>
            <a:off x="320040" y="256032"/>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Stage 2</a:t>
            </a:r>
            <a:endParaRPr lang="en-US" sz="900" dirty="0"/>
          </a:p>
        </p:txBody>
      </p:sp>
      <p:sp>
        <p:nvSpPr>
          <p:cNvPr id="6" name="Text 4"/>
          <p:cNvSpPr/>
          <p:nvPr/>
        </p:nvSpPr>
        <p:spPr>
          <a:xfrm>
            <a:off x="1463040" y="274320"/>
            <a:ext cx="7315200" cy="530352"/>
          </a:xfrm>
          <a:prstGeom prst="rect">
            <a:avLst/>
          </a:prstGeom>
          <a:noFill/>
          <a:ln/>
        </p:spPr>
        <p:txBody>
          <a:bodyPr wrap="square" lIns="0" tIns="0" rIns="0" bIns="0" rtlCol="0" anchor="ctr"/>
          <a:lstStyle/>
          <a:p>
            <a:pPr marL="0" indent="0" algn="l">
              <a:buNone/>
            </a:pPr>
            <a:r>
              <a:rPr lang="en-US" sz="2600" b="1" dirty="0">
                <a:solidFill>
                  <a:srgbClr val="5B2D8E"/>
                </a:solidFill>
                <a:latin typeface="Arial" pitchFamily="34" charset="0"/>
                <a:ea typeface="Arial" pitchFamily="34" charset="-122"/>
                <a:cs typeface="Arial" pitchFamily="34" charset="-120"/>
              </a:rPr>
              <a:t>Define</a:t>
            </a:r>
            <a:endParaRPr lang="en-US" sz="2600" dirty="0"/>
          </a:p>
        </p:txBody>
      </p:sp>
      <p:sp>
        <p:nvSpPr>
          <p:cNvPr id="7" name="Shape 5"/>
          <p:cNvSpPr/>
          <p:nvPr/>
        </p:nvSpPr>
        <p:spPr>
          <a:xfrm>
            <a:off x="320040" y="914400"/>
            <a:ext cx="1572768" cy="274320"/>
          </a:xfrm>
          <a:prstGeom prst="rect">
            <a:avLst/>
          </a:prstGeom>
          <a:solidFill>
            <a:srgbClr val="DDDDDD"/>
          </a:solidFill>
          <a:ln w="12700">
            <a:solidFill>
              <a:srgbClr val="DDDDDD"/>
            </a:solidFill>
            <a:prstDash val="solid"/>
          </a:ln>
        </p:spPr>
      </p:sp>
      <p:sp>
        <p:nvSpPr>
          <p:cNvPr id="8" name="Text 6"/>
          <p:cNvSpPr/>
          <p:nvPr/>
        </p:nvSpPr>
        <p:spPr>
          <a:xfrm>
            <a:off x="320040" y="914400"/>
            <a:ext cx="1572768" cy="274320"/>
          </a:xfrm>
          <a:prstGeom prst="rect">
            <a:avLst/>
          </a:prstGeom>
          <a:noFill/>
          <a:ln/>
        </p:spPr>
        <p:txBody>
          <a:bodyPr wrap="square" lIns="0" tIns="0" rIns="0" bIns="0" rtlCol="0" anchor="ctr"/>
          <a:lstStyle/>
          <a:p>
            <a:pPr marL="0" indent="0" algn="ctr">
              <a:buNone/>
            </a:pPr>
            <a:r>
              <a:rPr lang="en-US" sz="900" dirty="0">
                <a:solidFill>
                  <a:srgbClr val="5B2D8E"/>
                </a:solidFill>
                <a:latin typeface="Arial" pitchFamily="34" charset="0"/>
                <a:ea typeface="Arial" pitchFamily="34" charset="-122"/>
                <a:cs typeface="Arial" pitchFamily="34" charset="-120"/>
              </a:rPr>
              <a:t>Empathize</a:t>
            </a:r>
            <a:endParaRPr lang="en-US" sz="900" dirty="0"/>
          </a:p>
        </p:txBody>
      </p:sp>
      <p:sp>
        <p:nvSpPr>
          <p:cNvPr id="9" name="Shape 7"/>
          <p:cNvSpPr/>
          <p:nvPr/>
        </p:nvSpPr>
        <p:spPr>
          <a:xfrm>
            <a:off x="2039112" y="914400"/>
            <a:ext cx="1572768" cy="274320"/>
          </a:xfrm>
          <a:prstGeom prst="rect">
            <a:avLst/>
          </a:prstGeom>
          <a:solidFill>
            <a:srgbClr val="5B2D8E"/>
          </a:solidFill>
          <a:ln w="12700">
            <a:solidFill>
              <a:srgbClr val="5B2D8E"/>
            </a:solidFill>
            <a:prstDash val="solid"/>
          </a:ln>
        </p:spPr>
      </p:sp>
      <p:sp>
        <p:nvSpPr>
          <p:cNvPr id="10" name="Text 8"/>
          <p:cNvSpPr/>
          <p:nvPr/>
        </p:nvSpPr>
        <p:spPr>
          <a:xfrm>
            <a:off x="2039112" y="914400"/>
            <a:ext cx="15727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Define</a:t>
            </a:r>
            <a:endParaRPr lang="en-US" sz="900" dirty="0"/>
          </a:p>
        </p:txBody>
      </p:sp>
      <p:sp>
        <p:nvSpPr>
          <p:cNvPr id="11" name="Shape 9"/>
          <p:cNvSpPr/>
          <p:nvPr/>
        </p:nvSpPr>
        <p:spPr>
          <a:xfrm>
            <a:off x="3758184" y="914400"/>
            <a:ext cx="1572768" cy="274320"/>
          </a:xfrm>
          <a:prstGeom prst="rect">
            <a:avLst/>
          </a:prstGeom>
          <a:solidFill>
            <a:srgbClr val="DDDDDD"/>
          </a:solidFill>
          <a:ln w="12700">
            <a:solidFill>
              <a:srgbClr val="DDDDDD"/>
            </a:solidFill>
            <a:prstDash val="solid"/>
          </a:ln>
        </p:spPr>
      </p:sp>
      <p:sp>
        <p:nvSpPr>
          <p:cNvPr id="12" name="Text 10"/>
          <p:cNvSpPr/>
          <p:nvPr/>
        </p:nvSpPr>
        <p:spPr>
          <a:xfrm>
            <a:off x="3758184" y="914400"/>
            <a:ext cx="1572768"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Ideate</a:t>
            </a:r>
            <a:endParaRPr lang="en-US" sz="900" dirty="0"/>
          </a:p>
        </p:txBody>
      </p:sp>
      <p:sp>
        <p:nvSpPr>
          <p:cNvPr id="13" name="Shape 11"/>
          <p:cNvSpPr/>
          <p:nvPr/>
        </p:nvSpPr>
        <p:spPr>
          <a:xfrm>
            <a:off x="5477256" y="914400"/>
            <a:ext cx="1572768" cy="274320"/>
          </a:xfrm>
          <a:prstGeom prst="rect">
            <a:avLst/>
          </a:prstGeom>
          <a:solidFill>
            <a:srgbClr val="DDDDDD"/>
          </a:solidFill>
          <a:ln w="12700">
            <a:solidFill>
              <a:srgbClr val="DDDDDD"/>
            </a:solidFill>
            <a:prstDash val="solid"/>
          </a:ln>
        </p:spPr>
      </p:sp>
      <p:sp>
        <p:nvSpPr>
          <p:cNvPr id="14" name="Text 12"/>
          <p:cNvSpPr/>
          <p:nvPr/>
        </p:nvSpPr>
        <p:spPr>
          <a:xfrm>
            <a:off x="5477256" y="914400"/>
            <a:ext cx="1572768"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Prototype</a:t>
            </a:r>
            <a:endParaRPr lang="en-US" sz="900" dirty="0"/>
          </a:p>
        </p:txBody>
      </p:sp>
      <p:sp>
        <p:nvSpPr>
          <p:cNvPr id="15" name="Shape 13"/>
          <p:cNvSpPr/>
          <p:nvPr/>
        </p:nvSpPr>
        <p:spPr>
          <a:xfrm>
            <a:off x="7196328" y="914400"/>
            <a:ext cx="1572768" cy="274320"/>
          </a:xfrm>
          <a:prstGeom prst="rect">
            <a:avLst/>
          </a:prstGeom>
          <a:solidFill>
            <a:srgbClr val="DDDDDD"/>
          </a:solidFill>
          <a:ln w="12700">
            <a:solidFill>
              <a:srgbClr val="DDDDDD"/>
            </a:solidFill>
            <a:prstDash val="solid"/>
          </a:ln>
        </p:spPr>
      </p:sp>
      <p:sp>
        <p:nvSpPr>
          <p:cNvPr id="16" name="Text 14"/>
          <p:cNvSpPr/>
          <p:nvPr/>
        </p:nvSpPr>
        <p:spPr>
          <a:xfrm>
            <a:off x="7196328" y="914400"/>
            <a:ext cx="1572768"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Test</a:t>
            </a:r>
            <a:endParaRPr lang="en-US" sz="900" dirty="0"/>
          </a:p>
        </p:txBody>
      </p:sp>
      <p:sp>
        <p:nvSpPr>
          <p:cNvPr id="17" name="Shape 15"/>
          <p:cNvSpPr/>
          <p:nvPr/>
        </p:nvSpPr>
        <p:spPr>
          <a:xfrm>
            <a:off x="320040" y="1325880"/>
            <a:ext cx="2743200" cy="3520440"/>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18" name="Shape 16"/>
          <p:cNvSpPr/>
          <p:nvPr/>
        </p:nvSpPr>
        <p:spPr>
          <a:xfrm>
            <a:off x="320040" y="1325880"/>
            <a:ext cx="2743200" cy="411480"/>
          </a:xfrm>
          <a:prstGeom prst="rect">
            <a:avLst/>
          </a:prstGeom>
          <a:solidFill>
            <a:srgbClr val="5B2D8E"/>
          </a:solidFill>
          <a:ln w="12700">
            <a:solidFill>
              <a:srgbClr val="5B2D8E"/>
            </a:solidFill>
            <a:prstDash val="solid"/>
          </a:ln>
        </p:spPr>
      </p:sp>
      <p:sp>
        <p:nvSpPr>
          <p:cNvPr id="19" name="Text 17"/>
          <p:cNvSpPr/>
          <p:nvPr/>
        </p:nvSpPr>
        <p:spPr>
          <a:xfrm>
            <a:off x="457200" y="1325880"/>
            <a:ext cx="246888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What We Did</a:t>
            </a:r>
            <a:endParaRPr lang="en-US" sz="1200" dirty="0"/>
          </a:p>
        </p:txBody>
      </p:sp>
      <p:sp>
        <p:nvSpPr>
          <p:cNvPr id="20" name="Text 18"/>
          <p:cNvSpPr/>
          <p:nvPr/>
        </p:nvSpPr>
        <p:spPr>
          <a:xfrm>
            <a:off x="457200" y="1810512"/>
            <a:ext cx="2468880" cy="2926080"/>
          </a:xfrm>
          <a:prstGeom prst="rect">
            <a:avLst/>
          </a:prstGeom>
          <a:noFill/>
          <a:ln/>
        </p:spPr>
        <p:txBody>
          <a:bodyPr wrap="square" lIns="0" tIns="0" rIns="0" bIns="0" rtlCol="0" anchor="t"/>
          <a:lstStyle/>
          <a:p>
            <a:r>
              <a:rPr lang="en-US" sz="1400" dirty="0"/>
              <a:t>After the empathy stage, our team analyzed user feedback and identified key safety challenges during emergencies. We found that users faced difficulties in quickly contacting others, sharing live location, and getting help in low-network situations.</a:t>
            </a:r>
          </a:p>
          <a:p>
            <a:r>
              <a:rPr lang="en-US" sz="1400" dirty="0"/>
              <a:t>Based on these insights, we defined the need for a smart, reliable, and easy-to-use emergency safety solution.</a:t>
            </a:r>
          </a:p>
        </p:txBody>
      </p:sp>
      <p:sp>
        <p:nvSpPr>
          <p:cNvPr id="21" name="Shape 19"/>
          <p:cNvSpPr/>
          <p:nvPr/>
        </p:nvSpPr>
        <p:spPr>
          <a:xfrm>
            <a:off x="3246120" y="1325880"/>
            <a:ext cx="2743200" cy="3520440"/>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sp>
      <p:sp>
        <p:nvSpPr>
          <p:cNvPr id="22" name="Shape 20"/>
          <p:cNvSpPr/>
          <p:nvPr/>
        </p:nvSpPr>
        <p:spPr>
          <a:xfrm>
            <a:off x="3246120" y="1325880"/>
            <a:ext cx="2743200" cy="411480"/>
          </a:xfrm>
          <a:prstGeom prst="rect">
            <a:avLst/>
          </a:prstGeom>
          <a:solidFill>
            <a:srgbClr val="5B2D8E"/>
          </a:solidFill>
          <a:ln w="12700">
            <a:solidFill>
              <a:srgbClr val="5B2D8E"/>
            </a:solidFill>
            <a:prstDash val="solid"/>
          </a:ln>
        </p:spPr>
      </p:sp>
      <p:sp>
        <p:nvSpPr>
          <p:cNvPr id="23" name="Text 21"/>
          <p:cNvSpPr/>
          <p:nvPr/>
        </p:nvSpPr>
        <p:spPr>
          <a:xfrm>
            <a:off x="3383280" y="1325880"/>
            <a:ext cx="246888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Methods &amp; Tools</a:t>
            </a:r>
            <a:endParaRPr lang="en-US" sz="1200" dirty="0"/>
          </a:p>
        </p:txBody>
      </p:sp>
      <p:sp>
        <p:nvSpPr>
          <p:cNvPr id="24" name="Text 22"/>
          <p:cNvSpPr/>
          <p:nvPr/>
        </p:nvSpPr>
        <p:spPr>
          <a:xfrm>
            <a:off x="3383280" y="1810512"/>
            <a:ext cx="2606040" cy="2926080"/>
          </a:xfrm>
          <a:prstGeom prst="rect">
            <a:avLst/>
          </a:prstGeom>
          <a:noFill/>
          <a:ln/>
        </p:spPr>
        <p:txBody>
          <a:bodyPr wrap="square" rtlCol="0" anchor="t"/>
          <a:lstStyle/>
          <a:p>
            <a:pPr marL="171450" indent="-171450">
              <a:buFont typeface="Wingdings" panose="05000000000000000000" pitchFamily="2" charset="2"/>
              <a:buChar char="q"/>
            </a:pPr>
            <a:r>
              <a:rPr lang="en-US" sz="1400" dirty="0"/>
              <a:t>POV (Point of View) Statement </a:t>
            </a:r>
          </a:p>
          <a:p>
            <a:pPr marL="171450" indent="-171450">
              <a:buFont typeface="Wingdings" panose="05000000000000000000" pitchFamily="2" charset="2"/>
              <a:buChar char="q"/>
            </a:pPr>
            <a:r>
              <a:rPr lang="en-US" sz="1400" dirty="0"/>
              <a:t>How Might We (HMW) Questions </a:t>
            </a:r>
          </a:p>
          <a:p>
            <a:pPr marL="171450" indent="-171450">
              <a:buFont typeface="Wingdings" panose="05000000000000000000" pitchFamily="2" charset="2"/>
              <a:buChar char="q"/>
            </a:pPr>
            <a:r>
              <a:rPr lang="en-US" sz="1400" dirty="0"/>
              <a:t>Problem Framing </a:t>
            </a:r>
          </a:p>
          <a:p>
            <a:pPr marL="171450" indent="-171450">
              <a:buFont typeface="Wingdings" panose="05000000000000000000" pitchFamily="2" charset="2"/>
              <a:buChar char="q"/>
            </a:pPr>
            <a:r>
              <a:rPr lang="en-US" sz="1400" dirty="0"/>
              <a:t>User Pain Point Analysis </a:t>
            </a:r>
          </a:p>
          <a:p>
            <a:pPr marL="171450" indent="-171450">
              <a:buFont typeface="Wingdings" panose="05000000000000000000" pitchFamily="2" charset="2"/>
              <a:buChar char="q"/>
            </a:pPr>
            <a:r>
              <a:rPr lang="en-US" sz="1400" dirty="0"/>
              <a:t>Emergency Scenario Mapping</a:t>
            </a:r>
            <a:r>
              <a:rPr lang="en-US" sz="1100" dirty="0"/>
              <a:t> </a:t>
            </a:r>
          </a:p>
        </p:txBody>
      </p:sp>
      <p:sp>
        <p:nvSpPr>
          <p:cNvPr id="25" name="Shape 23"/>
          <p:cNvSpPr/>
          <p:nvPr/>
        </p:nvSpPr>
        <p:spPr>
          <a:xfrm>
            <a:off x="6172200" y="1325880"/>
            <a:ext cx="2651760" cy="3520440"/>
          </a:xfrm>
          <a:prstGeom prst="rect">
            <a:avLst/>
          </a:prstGeom>
          <a:solidFill>
            <a:srgbClr val="FFFDE7"/>
          </a:solidFill>
          <a:ln w="12700">
            <a:solidFill>
              <a:srgbClr val="F5C518"/>
            </a:solidFill>
            <a:prstDash val="solid"/>
          </a:ln>
          <a:effectLst>
            <a:outerShdw blurRad="76200" dist="25400" dir="8100000" algn="bl" rotWithShape="0">
              <a:srgbClr val="000000">
                <a:alpha val="10000"/>
              </a:srgbClr>
            </a:outerShdw>
          </a:effectLst>
        </p:spPr>
      </p:sp>
      <p:sp>
        <p:nvSpPr>
          <p:cNvPr id="26" name="Shape 24"/>
          <p:cNvSpPr/>
          <p:nvPr/>
        </p:nvSpPr>
        <p:spPr>
          <a:xfrm>
            <a:off x="6172200" y="1325880"/>
            <a:ext cx="2651760" cy="411480"/>
          </a:xfrm>
          <a:prstGeom prst="rect">
            <a:avLst/>
          </a:prstGeom>
          <a:solidFill>
            <a:srgbClr val="F5C518"/>
          </a:solidFill>
          <a:ln w="12700">
            <a:solidFill>
              <a:srgbClr val="F5C518"/>
            </a:solidFill>
            <a:prstDash val="solid"/>
          </a:ln>
        </p:spPr>
      </p:sp>
      <p:sp>
        <p:nvSpPr>
          <p:cNvPr id="27" name="Text 25"/>
          <p:cNvSpPr/>
          <p:nvPr/>
        </p:nvSpPr>
        <p:spPr>
          <a:xfrm>
            <a:off x="6309360" y="1325880"/>
            <a:ext cx="2377440" cy="411480"/>
          </a:xfrm>
          <a:prstGeom prst="rect">
            <a:avLst/>
          </a:prstGeom>
          <a:noFill/>
          <a:ln/>
        </p:spPr>
        <p:txBody>
          <a:bodyPr wrap="square" lIns="0" tIns="0" rIns="0" bIns="0" rtlCol="0" anchor="ctr"/>
          <a:lstStyle/>
          <a:p>
            <a:pPr marL="0" indent="0">
              <a:buNone/>
            </a:pPr>
            <a:r>
              <a:rPr lang="en-US" sz="1200" b="1" dirty="0">
                <a:solidFill>
                  <a:srgbClr val="5B2D8E"/>
                </a:solidFill>
                <a:latin typeface="Arial" pitchFamily="34" charset="0"/>
                <a:ea typeface="Arial" pitchFamily="34" charset="-122"/>
                <a:cs typeface="Arial" pitchFamily="34" charset="-120"/>
              </a:rPr>
              <a:t>✅ Key Takeaway</a:t>
            </a:r>
            <a:endParaRPr lang="en-US" sz="1200" dirty="0"/>
          </a:p>
        </p:txBody>
      </p:sp>
      <p:sp>
        <p:nvSpPr>
          <p:cNvPr id="28" name="Text 26"/>
          <p:cNvSpPr/>
          <p:nvPr/>
        </p:nvSpPr>
        <p:spPr>
          <a:xfrm>
            <a:off x="6309360" y="1810512"/>
            <a:ext cx="2377440" cy="2926080"/>
          </a:xfrm>
          <a:prstGeom prst="rect">
            <a:avLst/>
          </a:prstGeom>
          <a:noFill/>
          <a:ln/>
        </p:spPr>
        <p:txBody>
          <a:bodyPr wrap="square" lIns="0" tIns="0" rIns="0" bIns="0" rtlCol="0" anchor="t"/>
          <a:lstStyle/>
          <a:p>
            <a:r>
              <a:rPr lang="en-US" sz="1400" b="1" dirty="0"/>
              <a:t>Refined Problem Statement</a:t>
            </a:r>
          </a:p>
          <a:p>
            <a:endParaRPr lang="en-US" sz="1400" b="1" dirty="0"/>
          </a:p>
          <a:p>
            <a:r>
              <a:rPr lang="en-US" sz="1400" dirty="0"/>
              <a:t>Solo travelers, women, students, and elderly individuals need a fast and reliable emergency safety system because existing solutions often fail during critical situations due to internet dependency and delayed communication.</a:t>
            </a:r>
          </a:p>
        </p:txBody>
      </p:sp>
      <p:sp>
        <p:nvSpPr>
          <p:cNvPr id="29" name="Text 27"/>
          <p:cNvSpPr/>
          <p:nvPr/>
        </p:nvSpPr>
        <p:spPr>
          <a:xfrm>
            <a:off x="8686800" y="4846320"/>
            <a:ext cx="36576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9C6FCC"/>
          </a:solidFill>
          <a:ln w="12700">
            <a:solidFill>
              <a:srgbClr val="9C6FCC"/>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Shape 2"/>
          <p:cNvSpPr/>
          <p:nvPr/>
        </p:nvSpPr>
        <p:spPr>
          <a:xfrm>
            <a:off x="320040" y="256032"/>
            <a:ext cx="1005840" cy="566928"/>
          </a:xfrm>
          <a:prstGeom prst="rect">
            <a:avLst/>
          </a:prstGeom>
          <a:solidFill>
            <a:srgbClr val="9C6FCC"/>
          </a:solidFill>
          <a:ln w="12700">
            <a:solidFill>
              <a:srgbClr val="9C6FCC"/>
            </a:solidFill>
            <a:prstDash val="solid"/>
          </a:ln>
        </p:spPr>
      </p:sp>
      <p:sp>
        <p:nvSpPr>
          <p:cNvPr id="5" name="Text 3"/>
          <p:cNvSpPr/>
          <p:nvPr/>
        </p:nvSpPr>
        <p:spPr>
          <a:xfrm>
            <a:off x="320040" y="256032"/>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Stage 3</a:t>
            </a:r>
            <a:endParaRPr lang="en-US" sz="900" dirty="0"/>
          </a:p>
        </p:txBody>
      </p:sp>
      <p:sp>
        <p:nvSpPr>
          <p:cNvPr id="6" name="Text 4"/>
          <p:cNvSpPr/>
          <p:nvPr/>
        </p:nvSpPr>
        <p:spPr>
          <a:xfrm>
            <a:off x="1463040" y="274320"/>
            <a:ext cx="7315200" cy="530352"/>
          </a:xfrm>
          <a:prstGeom prst="rect">
            <a:avLst/>
          </a:prstGeom>
          <a:noFill/>
          <a:ln/>
        </p:spPr>
        <p:txBody>
          <a:bodyPr wrap="square" lIns="0" tIns="0" rIns="0" bIns="0" rtlCol="0" anchor="ctr"/>
          <a:lstStyle/>
          <a:p>
            <a:pPr marL="0" indent="0" algn="l">
              <a:buNone/>
            </a:pPr>
            <a:r>
              <a:rPr lang="en-US" sz="2600" b="1" dirty="0">
                <a:solidFill>
                  <a:srgbClr val="5B2D8E"/>
                </a:solidFill>
                <a:latin typeface="Arial" pitchFamily="34" charset="0"/>
                <a:ea typeface="Arial" pitchFamily="34" charset="-122"/>
                <a:cs typeface="Arial" pitchFamily="34" charset="-120"/>
              </a:rPr>
              <a:t>Ideate</a:t>
            </a:r>
            <a:endParaRPr lang="en-US" sz="2600" dirty="0"/>
          </a:p>
        </p:txBody>
      </p:sp>
      <p:sp>
        <p:nvSpPr>
          <p:cNvPr id="7" name="Shape 5"/>
          <p:cNvSpPr/>
          <p:nvPr/>
        </p:nvSpPr>
        <p:spPr>
          <a:xfrm>
            <a:off x="320040" y="914400"/>
            <a:ext cx="1572768" cy="274320"/>
          </a:xfrm>
          <a:prstGeom prst="rect">
            <a:avLst/>
          </a:prstGeom>
          <a:solidFill>
            <a:srgbClr val="DDDDDD"/>
          </a:solidFill>
          <a:ln w="12700">
            <a:solidFill>
              <a:srgbClr val="DDDDDD"/>
            </a:solidFill>
            <a:prstDash val="solid"/>
          </a:ln>
        </p:spPr>
      </p:sp>
      <p:sp>
        <p:nvSpPr>
          <p:cNvPr id="8" name="Text 6"/>
          <p:cNvSpPr/>
          <p:nvPr/>
        </p:nvSpPr>
        <p:spPr>
          <a:xfrm>
            <a:off x="320040" y="914400"/>
            <a:ext cx="1572768" cy="274320"/>
          </a:xfrm>
          <a:prstGeom prst="rect">
            <a:avLst/>
          </a:prstGeom>
          <a:noFill/>
          <a:ln/>
        </p:spPr>
        <p:txBody>
          <a:bodyPr wrap="square" lIns="0" tIns="0" rIns="0" bIns="0" rtlCol="0" anchor="ctr"/>
          <a:lstStyle/>
          <a:p>
            <a:pPr marL="0" indent="0" algn="ctr">
              <a:buNone/>
            </a:pPr>
            <a:r>
              <a:rPr lang="en-US" sz="900" dirty="0">
                <a:solidFill>
                  <a:srgbClr val="5B2D8E"/>
                </a:solidFill>
                <a:latin typeface="Arial" pitchFamily="34" charset="0"/>
                <a:ea typeface="Arial" pitchFamily="34" charset="-122"/>
                <a:cs typeface="Arial" pitchFamily="34" charset="-120"/>
              </a:rPr>
              <a:t>Empathize</a:t>
            </a:r>
            <a:endParaRPr lang="en-US" sz="900" dirty="0"/>
          </a:p>
        </p:txBody>
      </p:sp>
      <p:sp>
        <p:nvSpPr>
          <p:cNvPr id="9" name="Shape 7"/>
          <p:cNvSpPr/>
          <p:nvPr/>
        </p:nvSpPr>
        <p:spPr>
          <a:xfrm>
            <a:off x="2039112" y="914400"/>
            <a:ext cx="1572768" cy="274320"/>
          </a:xfrm>
          <a:prstGeom prst="rect">
            <a:avLst/>
          </a:prstGeom>
          <a:solidFill>
            <a:srgbClr val="DDDDDD"/>
          </a:solidFill>
          <a:ln w="12700">
            <a:solidFill>
              <a:srgbClr val="DDDDDD"/>
            </a:solidFill>
            <a:prstDash val="solid"/>
          </a:ln>
        </p:spPr>
      </p:sp>
      <p:sp>
        <p:nvSpPr>
          <p:cNvPr id="10" name="Text 8"/>
          <p:cNvSpPr/>
          <p:nvPr/>
        </p:nvSpPr>
        <p:spPr>
          <a:xfrm>
            <a:off x="2039112" y="914400"/>
            <a:ext cx="1572768" cy="274320"/>
          </a:xfrm>
          <a:prstGeom prst="rect">
            <a:avLst/>
          </a:prstGeom>
          <a:noFill/>
          <a:ln/>
        </p:spPr>
        <p:txBody>
          <a:bodyPr wrap="square" lIns="0" tIns="0" rIns="0" bIns="0" rtlCol="0" anchor="ctr"/>
          <a:lstStyle/>
          <a:p>
            <a:pPr marL="0" indent="0" algn="ctr">
              <a:buNone/>
            </a:pPr>
            <a:r>
              <a:rPr lang="en-US" sz="900" dirty="0">
                <a:solidFill>
                  <a:srgbClr val="5B2D8E"/>
                </a:solidFill>
                <a:latin typeface="Arial" pitchFamily="34" charset="0"/>
                <a:ea typeface="Arial" pitchFamily="34" charset="-122"/>
                <a:cs typeface="Arial" pitchFamily="34" charset="-120"/>
              </a:rPr>
              <a:t>Define</a:t>
            </a:r>
            <a:endParaRPr lang="en-US" sz="900" dirty="0"/>
          </a:p>
        </p:txBody>
      </p:sp>
      <p:sp>
        <p:nvSpPr>
          <p:cNvPr id="11" name="Shape 9"/>
          <p:cNvSpPr/>
          <p:nvPr/>
        </p:nvSpPr>
        <p:spPr>
          <a:xfrm>
            <a:off x="3758184" y="914400"/>
            <a:ext cx="1572768" cy="274320"/>
          </a:xfrm>
          <a:prstGeom prst="rect">
            <a:avLst/>
          </a:prstGeom>
          <a:solidFill>
            <a:srgbClr val="9C6FCC"/>
          </a:solidFill>
          <a:ln w="12700">
            <a:solidFill>
              <a:srgbClr val="9C6FCC"/>
            </a:solidFill>
            <a:prstDash val="solid"/>
          </a:ln>
        </p:spPr>
      </p:sp>
      <p:sp>
        <p:nvSpPr>
          <p:cNvPr id="12" name="Text 10"/>
          <p:cNvSpPr/>
          <p:nvPr/>
        </p:nvSpPr>
        <p:spPr>
          <a:xfrm>
            <a:off x="3758184" y="914400"/>
            <a:ext cx="15727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Ideate</a:t>
            </a:r>
            <a:endParaRPr lang="en-US" sz="900" dirty="0"/>
          </a:p>
        </p:txBody>
      </p:sp>
      <p:sp>
        <p:nvSpPr>
          <p:cNvPr id="13" name="Shape 11"/>
          <p:cNvSpPr/>
          <p:nvPr/>
        </p:nvSpPr>
        <p:spPr>
          <a:xfrm>
            <a:off x="5477256" y="914400"/>
            <a:ext cx="1572768" cy="274320"/>
          </a:xfrm>
          <a:prstGeom prst="rect">
            <a:avLst/>
          </a:prstGeom>
          <a:solidFill>
            <a:srgbClr val="DDDDDD"/>
          </a:solidFill>
          <a:ln w="12700">
            <a:solidFill>
              <a:srgbClr val="DDDDDD"/>
            </a:solidFill>
            <a:prstDash val="solid"/>
          </a:ln>
        </p:spPr>
      </p:sp>
      <p:sp>
        <p:nvSpPr>
          <p:cNvPr id="14" name="Text 12"/>
          <p:cNvSpPr/>
          <p:nvPr/>
        </p:nvSpPr>
        <p:spPr>
          <a:xfrm>
            <a:off x="5477256" y="914400"/>
            <a:ext cx="1572768"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Prototype</a:t>
            </a:r>
            <a:endParaRPr lang="en-US" sz="900" dirty="0"/>
          </a:p>
        </p:txBody>
      </p:sp>
      <p:sp>
        <p:nvSpPr>
          <p:cNvPr id="15" name="Shape 13"/>
          <p:cNvSpPr/>
          <p:nvPr/>
        </p:nvSpPr>
        <p:spPr>
          <a:xfrm>
            <a:off x="7196328" y="914400"/>
            <a:ext cx="1572768" cy="274320"/>
          </a:xfrm>
          <a:prstGeom prst="rect">
            <a:avLst/>
          </a:prstGeom>
          <a:solidFill>
            <a:srgbClr val="DDDDDD"/>
          </a:solidFill>
          <a:ln w="12700">
            <a:solidFill>
              <a:srgbClr val="DDDDDD"/>
            </a:solidFill>
            <a:prstDash val="solid"/>
          </a:ln>
        </p:spPr>
      </p:sp>
      <p:sp>
        <p:nvSpPr>
          <p:cNvPr id="16" name="Text 14"/>
          <p:cNvSpPr/>
          <p:nvPr/>
        </p:nvSpPr>
        <p:spPr>
          <a:xfrm>
            <a:off x="7196328" y="914400"/>
            <a:ext cx="1572768" cy="274320"/>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Test</a:t>
            </a:r>
            <a:endParaRPr lang="en-US" sz="900" dirty="0"/>
          </a:p>
        </p:txBody>
      </p:sp>
      <p:sp>
        <p:nvSpPr>
          <p:cNvPr id="17" name="Shape 15"/>
          <p:cNvSpPr/>
          <p:nvPr/>
        </p:nvSpPr>
        <p:spPr>
          <a:xfrm>
            <a:off x="320040" y="1325880"/>
            <a:ext cx="2743200" cy="3520440"/>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18" name="Shape 16"/>
          <p:cNvSpPr/>
          <p:nvPr/>
        </p:nvSpPr>
        <p:spPr>
          <a:xfrm>
            <a:off x="320040" y="1325880"/>
            <a:ext cx="2743200" cy="411480"/>
          </a:xfrm>
          <a:prstGeom prst="rect">
            <a:avLst/>
          </a:prstGeom>
          <a:solidFill>
            <a:srgbClr val="9C6FCC"/>
          </a:solidFill>
          <a:ln w="12700">
            <a:solidFill>
              <a:srgbClr val="9C6FCC"/>
            </a:solidFill>
            <a:prstDash val="solid"/>
          </a:ln>
        </p:spPr>
      </p:sp>
      <p:sp>
        <p:nvSpPr>
          <p:cNvPr id="19" name="Text 17"/>
          <p:cNvSpPr/>
          <p:nvPr/>
        </p:nvSpPr>
        <p:spPr>
          <a:xfrm>
            <a:off x="457200" y="1325880"/>
            <a:ext cx="246888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What We Did</a:t>
            </a:r>
            <a:endParaRPr lang="en-US" sz="1200" dirty="0"/>
          </a:p>
        </p:txBody>
      </p:sp>
      <p:sp>
        <p:nvSpPr>
          <p:cNvPr id="20" name="Text 18"/>
          <p:cNvSpPr/>
          <p:nvPr/>
        </p:nvSpPr>
        <p:spPr>
          <a:xfrm>
            <a:off x="457200" y="1810512"/>
            <a:ext cx="2468880" cy="2926080"/>
          </a:xfrm>
          <a:prstGeom prst="rect">
            <a:avLst/>
          </a:prstGeom>
          <a:noFill/>
          <a:ln/>
        </p:spPr>
        <p:txBody>
          <a:bodyPr wrap="square" lIns="0" tIns="0" rIns="0" bIns="0" rtlCol="0" anchor="t"/>
          <a:lstStyle/>
          <a:p>
            <a:r>
              <a:rPr lang="en-US" sz="1200" dirty="0">
                <a:latin typeface="Times New Roman" panose="02020603050405020304" pitchFamily="18" charset="0"/>
                <a:cs typeface="Times New Roman" panose="02020603050405020304" pitchFamily="18" charset="0"/>
              </a:rPr>
              <a:t>During the ideation stage, our team conducted brainstorming sessions to generate multiple ideas related to personal safety and emergency response systems. We explored different approaches such as smart SOS alerts, AI-based fall detection, offline emergency communication, and risk zone monitoring.</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After evaluating feasibility, user needs, and real-world impact, we finalized an intelligent mobile safety application that provides fast emergency support and reliable alert mechanisms.</a:t>
            </a:r>
          </a:p>
        </p:txBody>
      </p:sp>
      <p:sp>
        <p:nvSpPr>
          <p:cNvPr id="21" name="Shape 19"/>
          <p:cNvSpPr/>
          <p:nvPr/>
        </p:nvSpPr>
        <p:spPr>
          <a:xfrm>
            <a:off x="3246120" y="1325880"/>
            <a:ext cx="2743200" cy="3520440"/>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sp>
      <p:sp>
        <p:nvSpPr>
          <p:cNvPr id="22" name="Shape 20"/>
          <p:cNvSpPr/>
          <p:nvPr/>
        </p:nvSpPr>
        <p:spPr>
          <a:xfrm>
            <a:off x="3246120" y="1325880"/>
            <a:ext cx="2743200" cy="411480"/>
          </a:xfrm>
          <a:prstGeom prst="rect">
            <a:avLst/>
          </a:prstGeom>
          <a:solidFill>
            <a:srgbClr val="5B2D8E"/>
          </a:solidFill>
          <a:ln w="12700">
            <a:solidFill>
              <a:srgbClr val="5B2D8E"/>
            </a:solidFill>
            <a:prstDash val="solid"/>
          </a:ln>
        </p:spPr>
      </p:sp>
      <p:sp>
        <p:nvSpPr>
          <p:cNvPr id="23" name="Text 21"/>
          <p:cNvSpPr/>
          <p:nvPr/>
        </p:nvSpPr>
        <p:spPr>
          <a:xfrm>
            <a:off x="3383280" y="1325880"/>
            <a:ext cx="246888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Methods &amp; Tools</a:t>
            </a:r>
            <a:endParaRPr lang="en-US" sz="1200" dirty="0"/>
          </a:p>
        </p:txBody>
      </p:sp>
      <p:sp>
        <p:nvSpPr>
          <p:cNvPr id="24" name="Text 22"/>
          <p:cNvSpPr/>
          <p:nvPr/>
        </p:nvSpPr>
        <p:spPr>
          <a:xfrm>
            <a:off x="3246120" y="1810512"/>
            <a:ext cx="2743200" cy="2926080"/>
          </a:xfrm>
          <a:prstGeom prst="rect">
            <a:avLst/>
          </a:prstGeom>
          <a:noFill/>
          <a:ln/>
        </p:spPr>
        <p:txBody>
          <a:bodyPr wrap="square" rtlCol="0" anchor="t"/>
          <a:lstStyle/>
          <a:p>
            <a:r>
              <a:rPr lang="en-US" sz="1400" b="1" dirty="0">
                <a:latin typeface="Times New Roman" panose="02020603050405020304" pitchFamily="18" charset="0"/>
                <a:cs typeface="Times New Roman" panose="02020603050405020304" pitchFamily="18" charset="0"/>
              </a:rPr>
              <a:t>💡 Brainstorming</a:t>
            </a:r>
          </a:p>
          <a:p>
            <a:pPr marL="285750" indent="-285750">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Smart emergency communication </a:t>
            </a:r>
          </a:p>
          <a:p>
            <a:pPr marL="285750" indent="-285750">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AI-based safety monitoring </a:t>
            </a:r>
          </a:p>
          <a:p>
            <a:pPr marL="285750" indent="-285750">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Offline emergency alerts </a:t>
            </a:r>
          </a:p>
          <a:p>
            <a:pPr marL="285750" indent="-285750">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Location-based emergency response</a:t>
            </a:r>
          </a:p>
          <a:p>
            <a:r>
              <a:rPr lang="en-US" sz="1400" b="1" dirty="0">
                <a:latin typeface="Times New Roman" panose="02020603050405020304" pitchFamily="18" charset="0"/>
                <a:cs typeface="Times New Roman" panose="02020603050405020304" pitchFamily="18" charset="0"/>
              </a:rPr>
              <a:t>🛠 Methods &amp; Tools</a:t>
            </a:r>
          </a:p>
          <a:p>
            <a:pPr marL="285750" indent="-285750" algn="just">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POV (Point of View) Statement </a:t>
            </a:r>
          </a:p>
          <a:p>
            <a:pPr marL="285750" indent="-285750" algn="just">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How Might We Questions </a:t>
            </a:r>
          </a:p>
          <a:p>
            <a:pPr marL="285750" indent="-285750" algn="just">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Problem Framing </a:t>
            </a:r>
          </a:p>
          <a:p>
            <a:pPr marL="285750" indent="-285750" algn="just">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User Pain Point Analysis </a:t>
            </a:r>
          </a:p>
          <a:p>
            <a:pPr marL="285750" indent="-285750" algn="just">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Emergency Scenario Mapping</a:t>
            </a:r>
          </a:p>
          <a:p>
            <a:pPr>
              <a:buSzPct val="100000"/>
            </a:pPr>
            <a:endParaRPr lang="en-US" sz="1100" dirty="0"/>
          </a:p>
        </p:txBody>
      </p:sp>
      <p:sp>
        <p:nvSpPr>
          <p:cNvPr id="25" name="Shape 23"/>
          <p:cNvSpPr/>
          <p:nvPr/>
        </p:nvSpPr>
        <p:spPr>
          <a:xfrm>
            <a:off x="6172200" y="1325880"/>
            <a:ext cx="2651760" cy="3520440"/>
          </a:xfrm>
          <a:prstGeom prst="rect">
            <a:avLst/>
          </a:prstGeom>
          <a:solidFill>
            <a:srgbClr val="FFFDE7"/>
          </a:solidFill>
          <a:ln w="12700">
            <a:solidFill>
              <a:srgbClr val="F5C518"/>
            </a:solidFill>
            <a:prstDash val="solid"/>
          </a:ln>
          <a:effectLst>
            <a:outerShdw blurRad="76200" dist="25400" dir="8100000" algn="bl" rotWithShape="0">
              <a:srgbClr val="000000">
                <a:alpha val="10000"/>
              </a:srgbClr>
            </a:outerShdw>
          </a:effectLst>
        </p:spPr>
      </p:sp>
      <p:sp>
        <p:nvSpPr>
          <p:cNvPr id="26" name="Shape 24"/>
          <p:cNvSpPr/>
          <p:nvPr/>
        </p:nvSpPr>
        <p:spPr>
          <a:xfrm>
            <a:off x="6172200" y="1325880"/>
            <a:ext cx="2651760" cy="411480"/>
          </a:xfrm>
          <a:prstGeom prst="rect">
            <a:avLst/>
          </a:prstGeom>
          <a:solidFill>
            <a:srgbClr val="F5C518"/>
          </a:solidFill>
          <a:ln w="12700">
            <a:solidFill>
              <a:srgbClr val="F5C518"/>
            </a:solidFill>
            <a:prstDash val="solid"/>
          </a:ln>
        </p:spPr>
      </p:sp>
      <p:sp>
        <p:nvSpPr>
          <p:cNvPr id="27" name="Text 25"/>
          <p:cNvSpPr/>
          <p:nvPr/>
        </p:nvSpPr>
        <p:spPr>
          <a:xfrm>
            <a:off x="6309360" y="1325880"/>
            <a:ext cx="2377440" cy="411480"/>
          </a:xfrm>
          <a:prstGeom prst="rect">
            <a:avLst/>
          </a:prstGeom>
          <a:noFill/>
          <a:ln/>
        </p:spPr>
        <p:txBody>
          <a:bodyPr wrap="square" lIns="0" tIns="0" rIns="0" bIns="0" rtlCol="0" anchor="ctr"/>
          <a:lstStyle/>
          <a:p>
            <a:pPr marL="0" indent="0">
              <a:buNone/>
            </a:pPr>
            <a:r>
              <a:rPr lang="en-US" sz="1200" b="1" dirty="0">
                <a:solidFill>
                  <a:srgbClr val="5B2D8E"/>
                </a:solidFill>
                <a:latin typeface="Arial" pitchFamily="34" charset="0"/>
                <a:ea typeface="Arial" pitchFamily="34" charset="-122"/>
                <a:cs typeface="Arial" pitchFamily="34" charset="-120"/>
              </a:rPr>
              <a:t>✅ Key Takeaway</a:t>
            </a:r>
            <a:endParaRPr lang="en-US" sz="1200" dirty="0"/>
          </a:p>
        </p:txBody>
      </p:sp>
      <p:sp>
        <p:nvSpPr>
          <p:cNvPr id="28" name="Text 26"/>
          <p:cNvSpPr/>
          <p:nvPr/>
        </p:nvSpPr>
        <p:spPr>
          <a:xfrm>
            <a:off x="6309360" y="1810512"/>
            <a:ext cx="2514600" cy="2926080"/>
          </a:xfrm>
          <a:prstGeom prst="rect">
            <a:avLst/>
          </a:prstGeom>
          <a:noFill/>
          <a:ln/>
        </p:spPr>
        <p:txBody>
          <a:bodyPr wrap="square" lIns="0" tIns="0" rIns="0" bIns="0" rtlCol="0" anchor="t"/>
          <a:lstStyle/>
          <a:p>
            <a:pPr marL="0" indent="0">
              <a:buNone/>
            </a:pPr>
            <a:r>
              <a:rPr lang="en-US" sz="1400" dirty="0">
                <a:solidFill>
                  <a:srgbClr val="333333"/>
                </a:solidFill>
                <a:latin typeface="Times New Roman" panose="02020603050405020304" pitchFamily="18" charset="0"/>
                <a:ea typeface="Arial" pitchFamily="34" charset="-122"/>
                <a:cs typeface="Times New Roman" panose="02020603050405020304" pitchFamily="18" charset="0"/>
              </a:rPr>
              <a:t>Total ideas generated: 8</a:t>
            </a: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i="1" dirty="0">
                <a:solidFill>
                  <a:srgbClr val="333333"/>
                </a:solidFill>
                <a:latin typeface="Times New Roman" panose="02020603050405020304" pitchFamily="18" charset="0"/>
                <a:ea typeface="Arial" pitchFamily="34" charset="-122"/>
                <a:cs typeface="Times New Roman" panose="02020603050405020304" pitchFamily="18" charset="0"/>
              </a:rPr>
              <a:t>Top 3 concepts shortlisted:</a:t>
            </a:r>
            <a:endParaRPr lang="en-US" sz="1400" dirty="0">
              <a:latin typeface="Times New Roman" panose="02020603050405020304" pitchFamily="18" charset="0"/>
              <a:cs typeface="Times New Roman" panose="02020603050405020304" pitchFamily="18" charset="0"/>
            </a:endParaRPr>
          </a:p>
          <a:p>
            <a:r>
              <a:rPr lang="en-US" sz="1400" i="1" dirty="0">
                <a:solidFill>
                  <a:srgbClr val="333333"/>
                </a:solidFill>
                <a:latin typeface="Times New Roman" panose="02020603050405020304" pitchFamily="18" charset="0"/>
                <a:ea typeface="Arial" pitchFamily="34" charset="-122"/>
                <a:cs typeface="Times New Roman" panose="02020603050405020304" pitchFamily="18" charset="0"/>
              </a:rPr>
              <a:t>1. </a:t>
            </a:r>
            <a:r>
              <a:rPr lang="en-IN" sz="1400" dirty="0">
                <a:latin typeface="Times New Roman" panose="02020603050405020304" pitchFamily="18" charset="0"/>
                <a:cs typeface="Times New Roman" panose="02020603050405020304" pitchFamily="18" charset="0"/>
              </a:rPr>
              <a:t>Smart SOS Emergency System</a:t>
            </a:r>
            <a:endParaRPr lang="en-US" sz="1400" dirty="0">
              <a:latin typeface="Times New Roman" panose="02020603050405020304" pitchFamily="18" charset="0"/>
              <a:cs typeface="Times New Roman" panose="02020603050405020304" pitchFamily="18" charset="0"/>
            </a:endParaRPr>
          </a:p>
          <a:p>
            <a:r>
              <a:rPr lang="en-US" sz="1400" i="1" dirty="0">
                <a:solidFill>
                  <a:srgbClr val="333333"/>
                </a:solidFill>
                <a:latin typeface="Times New Roman" panose="02020603050405020304" pitchFamily="18" charset="0"/>
                <a:ea typeface="Arial" pitchFamily="34" charset="-122"/>
                <a:cs typeface="Times New Roman" panose="02020603050405020304" pitchFamily="18" charset="0"/>
              </a:rPr>
              <a:t>2.</a:t>
            </a:r>
            <a:r>
              <a:rPr lang="en-IN" sz="1400" dirty="0">
                <a:latin typeface="Times New Roman" panose="02020603050405020304" pitchFamily="18" charset="0"/>
                <a:cs typeface="Times New Roman" panose="02020603050405020304" pitchFamily="18" charset="0"/>
              </a:rPr>
              <a:t> AI-Based Fall Detection</a:t>
            </a:r>
            <a:endParaRPr lang="en-US" sz="1400" i="1" dirty="0">
              <a:solidFill>
                <a:srgbClr val="333333"/>
              </a:solidFill>
              <a:latin typeface="Times New Roman" panose="02020603050405020304" pitchFamily="18" charset="0"/>
              <a:ea typeface="Arial" pitchFamily="34" charset="-122"/>
              <a:cs typeface="Times New Roman" panose="02020603050405020304" pitchFamily="18" charset="0"/>
            </a:endParaRPr>
          </a:p>
          <a:p>
            <a:r>
              <a:rPr lang="en-US" sz="1400" i="1" dirty="0">
                <a:solidFill>
                  <a:srgbClr val="333333"/>
                </a:solidFill>
                <a:latin typeface="Times New Roman" panose="02020603050405020304" pitchFamily="18" charset="0"/>
                <a:ea typeface="Arial" pitchFamily="34" charset="-122"/>
                <a:cs typeface="Times New Roman" panose="02020603050405020304" pitchFamily="18" charset="0"/>
              </a:rPr>
              <a:t>3. </a:t>
            </a:r>
            <a:r>
              <a:rPr lang="en-US" sz="1400" dirty="0">
                <a:latin typeface="Times New Roman" panose="02020603050405020304" pitchFamily="18" charset="0"/>
                <a:cs typeface="Times New Roman" panose="02020603050405020304" pitchFamily="18" charset="0"/>
              </a:rPr>
              <a:t>Geo-Based Risk Zone Alert System</a:t>
            </a:r>
          </a:p>
          <a:p>
            <a:endParaRPr lang="en-US" sz="1400" dirty="0">
              <a:latin typeface="Times New Roman" panose="02020603050405020304" pitchFamily="18" charset="0"/>
              <a:cs typeface="Times New Roman" panose="02020603050405020304" pitchFamily="18" charset="0"/>
            </a:endParaRPr>
          </a:p>
          <a:p>
            <a:pPr marL="0" indent="0">
              <a:buNone/>
            </a:pPr>
            <a:r>
              <a:rPr lang="en-US" sz="1400" i="1" dirty="0">
                <a:solidFill>
                  <a:srgbClr val="333333"/>
                </a:solidFill>
                <a:latin typeface="Times New Roman" panose="02020603050405020304" pitchFamily="18" charset="0"/>
                <a:ea typeface="Arial" pitchFamily="34" charset="-122"/>
                <a:cs typeface="Times New Roman" panose="02020603050405020304" pitchFamily="18" charset="0"/>
              </a:rPr>
              <a:t>Concept selected for prototyping:</a:t>
            </a:r>
            <a:endParaRPr lang="en-US" sz="1400" dirty="0">
              <a:latin typeface="Times New Roman" panose="02020603050405020304" pitchFamily="18" charset="0"/>
              <a:cs typeface="Times New Roman" panose="02020603050405020304" pitchFamily="18" charset="0"/>
            </a:endParaRPr>
          </a:p>
          <a:p>
            <a:r>
              <a:rPr lang="en-US" sz="1400" i="1" dirty="0">
                <a:solidFill>
                  <a:srgbClr val="333333"/>
                </a:solidFill>
                <a:latin typeface="Times New Roman" panose="02020603050405020304" pitchFamily="18" charset="0"/>
                <a:ea typeface="Arial" pitchFamily="34" charset="-122"/>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GEOSHIELD – AI-Powered Personal Safety System</a:t>
            </a:r>
          </a:p>
        </p:txBody>
      </p:sp>
      <p:sp>
        <p:nvSpPr>
          <p:cNvPr id="29" name="Text 27"/>
          <p:cNvSpPr/>
          <p:nvPr/>
        </p:nvSpPr>
        <p:spPr>
          <a:xfrm>
            <a:off x="8686800" y="4846320"/>
            <a:ext cx="36576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B2D8E"/>
          </a:solidFill>
          <a:ln w="12700">
            <a:solidFill>
              <a:srgbClr val="5B2D8E"/>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Text 2"/>
          <p:cNvSpPr/>
          <p:nvPr/>
        </p:nvSpPr>
        <p:spPr>
          <a:xfrm>
            <a:off x="365760" y="237744"/>
            <a:ext cx="8412480" cy="594360"/>
          </a:xfrm>
          <a:prstGeom prst="rect">
            <a:avLst/>
          </a:prstGeom>
          <a:noFill/>
          <a:ln/>
        </p:spPr>
        <p:txBody>
          <a:bodyPr wrap="square" lIns="0" tIns="0" rIns="0" bIns="0" rtlCol="0" anchor="ctr"/>
          <a:lstStyle/>
          <a:p>
            <a:pPr marL="0" indent="0" algn="l">
              <a:buNone/>
            </a:pPr>
            <a:r>
              <a:rPr lang="en-US" sz="2400" b="1" dirty="0">
                <a:solidFill>
                  <a:srgbClr val="5B2D8E"/>
                </a:solidFill>
                <a:latin typeface="Arial" pitchFamily="34" charset="0"/>
                <a:ea typeface="Arial" pitchFamily="34" charset="-122"/>
                <a:cs typeface="Arial" pitchFamily="34" charset="-120"/>
              </a:rPr>
              <a:t>Our Final Solution</a:t>
            </a:r>
            <a:endParaRPr lang="en-US" sz="2400" dirty="0"/>
          </a:p>
        </p:txBody>
      </p:sp>
      <p:sp>
        <p:nvSpPr>
          <p:cNvPr id="5" name="Shape 3"/>
          <p:cNvSpPr/>
          <p:nvPr/>
        </p:nvSpPr>
        <p:spPr>
          <a:xfrm>
            <a:off x="365760" y="850392"/>
            <a:ext cx="8412480" cy="27432"/>
          </a:xfrm>
          <a:prstGeom prst="rect">
            <a:avLst/>
          </a:prstGeom>
          <a:solidFill>
            <a:srgbClr val="D1C4E9"/>
          </a:solidFill>
          <a:ln w="12700">
            <a:solidFill>
              <a:srgbClr val="D1C4E9"/>
            </a:solidFill>
            <a:prstDash val="solid"/>
          </a:ln>
        </p:spPr>
      </p:sp>
      <p:sp>
        <p:nvSpPr>
          <p:cNvPr id="6" name="Shape 4"/>
          <p:cNvSpPr/>
          <p:nvPr/>
        </p:nvSpPr>
        <p:spPr>
          <a:xfrm>
            <a:off x="320040" y="987552"/>
            <a:ext cx="8503920" cy="1024128"/>
          </a:xfrm>
          <a:prstGeom prst="rect">
            <a:avLst/>
          </a:prstGeom>
          <a:solidFill>
            <a:srgbClr val="5B2D8E"/>
          </a:solidFill>
          <a:ln w="12700">
            <a:solidFill>
              <a:srgbClr val="5B2D8E"/>
            </a:solidFill>
            <a:prstDash val="solid"/>
          </a:ln>
          <a:effectLst>
            <a:outerShdw blurRad="76200" dist="25400" dir="8100000" algn="bl" rotWithShape="0">
              <a:srgbClr val="000000">
                <a:alpha val="10000"/>
              </a:srgbClr>
            </a:outerShdw>
          </a:effectLst>
        </p:spPr>
      </p:sp>
      <p:sp>
        <p:nvSpPr>
          <p:cNvPr id="7" name="Shape 5"/>
          <p:cNvSpPr/>
          <p:nvPr/>
        </p:nvSpPr>
        <p:spPr>
          <a:xfrm>
            <a:off x="320040" y="987552"/>
            <a:ext cx="128016" cy="1024128"/>
          </a:xfrm>
          <a:prstGeom prst="rect">
            <a:avLst/>
          </a:prstGeom>
          <a:solidFill>
            <a:srgbClr val="F5C518"/>
          </a:solidFill>
          <a:ln w="12700">
            <a:solidFill>
              <a:srgbClr val="F5C518"/>
            </a:solidFill>
            <a:prstDash val="solid"/>
          </a:ln>
        </p:spPr>
      </p:sp>
      <p:sp>
        <p:nvSpPr>
          <p:cNvPr id="8" name="Text 6"/>
          <p:cNvSpPr/>
          <p:nvPr/>
        </p:nvSpPr>
        <p:spPr>
          <a:xfrm>
            <a:off x="566928" y="1024128"/>
            <a:ext cx="2743200" cy="274320"/>
          </a:xfrm>
          <a:prstGeom prst="rect">
            <a:avLst/>
          </a:prstGeom>
          <a:noFill/>
          <a:ln/>
        </p:spPr>
        <p:txBody>
          <a:bodyPr wrap="square" lIns="0" tIns="0" rIns="0" bIns="0" rtlCol="0" anchor="ctr"/>
          <a:lstStyle/>
          <a:p>
            <a:pPr marL="0" indent="0">
              <a:buNone/>
            </a:pPr>
            <a:r>
              <a:rPr lang="en-US" sz="1000" dirty="0">
                <a:solidFill>
                  <a:srgbClr val="D1B5E8"/>
                </a:solidFill>
                <a:latin typeface="Arial" pitchFamily="34" charset="0"/>
                <a:ea typeface="Arial" pitchFamily="34" charset="-122"/>
                <a:cs typeface="Arial" pitchFamily="34" charset="-120"/>
              </a:rPr>
              <a:t>Solution Name:</a:t>
            </a:r>
            <a:endParaRPr lang="en-US" sz="1000" dirty="0"/>
          </a:p>
        </p:txBody>
      </p:sp>
      <p:sp>
        <p:nvSpPr>
          <p:cNvPr id="9" name="Text 7"/>
          <p:cNvSpPr/>
          <p:nvPr/>
        </p:nvSpPr>
        <p:spPr>
          <a:xfrm>
            <a:off x="566928" y="1298448"/>
            <a:ext cx="59436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GEOSHIELD</a:t>
            </a:r>
            <a:endParaRPr lang="en-US" sz="2200" dirty="0"/>
          </a:p>
        </p:txBody>
      </p:sp>
      <p:sp>
        <p:nvSpPr>
          <p:cNvPr id="10" name="Shape 8"/>
          <p:cNvSpPr/>
          <p:nvPr/>
        </p:nvSpPr>
        <p:spPr>
          <a:xfrm>
            <a:off x="7406640" y="1115568"/>
            <a:ext cx="1280160" cy="475488"/>
          </a:xfrm>
          <a:prstGeom prst="rect">
            <a:avLst/>
          </a:prstGeom>
          <a:solidFill>
            <a:srgbClr val="F5C518"/>
          </a:solidFill>
          <a:ln w="12700">
            <a:solidFill>
              <a:srgbClr val="F5C518"/>
            </a:solidFill>
            <a:prstDash val="solid"/>
          </a:ln>
        </p:spPr>
      </p:sp>
      <p:sp>
        <p:nvSpPr>
          <p:cNvPr id="11" name="Text 9"/>
          <p:cNvSpPr/>
          <p:nvPr/>
        </p:nvSpPr>
        <p:spPr>
          <a:xfrm>
            <a:off x="7406640" y="1115568"/>
            <a:ext cx="1280160" cy="475488"/>
          </a:xfrm>
          <a:prstGeom prst="rect">
            <a:avLst/>
          </a:prstGeom>
          <a:noFill/>
          <a:ln/>
        </p:spPr>
        <p:txBody>
          <a:bodyPr wrap="square" lIns="0" tIns="0" rIns="0" bIns="0" rtlCol="0" anchor="ctr"/>
          <a:lstStyle/>
          <a:p>
            <a:pPr marL="0" indent="0" algn="ctr">
              <a:buNone/>
            </a:pPr>
            <a:r>
              <a:rPr lang="en-US" sz="1100" b="1" dirty="0">
                <a:solidFill>
                  <a:srgbClr val="5B2D8E"/>
                </a:solidFill>
                <a:latin typeface="Arial" pitchFamily="34" charset="0"/>
                <a:ea typeface="Arial" pitchFamily="34" charset="-122"/>
                <a:cs typeface="Arial" pitchFamily="34" charset="-120"/>
              </a:rPr>
              <a:t>✅ Selected</a:t>
            </a:r>
            <a:endParaRPr lang="en-US" sz="1100" dirty="0"/>
          </a:p>
        </p:txBody>
      </p:sp>
      <p:sp>
        <p:nvSpPr>
          <p:cNvPr id="12" name="Shape 10"/>
          <p:cNvSpPr/>
          <p:nvPr/>
        </p:nvSpPr>
        <p:spPr>
          <a:xfrm>
            <a:off x="320040" y="2176272"/>
            <a:ext cx="2743200" cy="2651760"/>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13" name="Shape 11"/>
          <p:cNvSpPr/>
          <p:nvPr/>
        </p:nvSpPr>
        <p:spPr>
          <a:xfrm>
            <a:off x="320040" y="2176272"/>
            <a:ext cx="2743200" cy="54864"/>
          </a:xfrm>
          <a:prstGeom prst="rect">
            <a:avLst/>
          </a:prstGeom>
          <a:solidFill>
            <a:srgbClr val="F5C518"/>
          </a:solidFill>
          <a:ln w="12700">
            <a:solidFill>
              <a:srgbClr val="F5C518"/>
            </a:solidFill>
            <a:prstDash val="solid"/>
          </a:ln>
        </p:spPr>
      </p:sp>
      <p:sp>
        <p:nvSpPr>
          <p:cNvPr id="14" name="Text 12"/>
          <p:cNvSpPr/>
          <p:nvPr/>
        </p:nvSpPr>
        <p:spPr>
          <a:xfrm>
            <a:off x="320040" y="2286000"/>
            <a:ext cx="2743200" cy="502920"/>
          </a:xfrm>
          <a:prstGeom prst="rect">
            <a:avLst/>
          </a:prstGeom>
          <a:noFill/>
          <a:ln/>
        </p:spPr>
        <p:txBody>
          <a:bodyPr wrap="square" lIns="0" tIns="0" rIns="0" bIns="0"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57200" y="2816352"/>
            <a:ext cx="2468880" cy="347472"/>
          </a:xfrm>
          <a:prstGeom prst="rect">
            <a:avLst/>
          </a:prstGeom>
          <a:noFill/>
          <a:ln/>
        </p:spPr>
        <p:txBody>
          <a:bodyPr wrap="square" lIns="0" tIns="0" rIns="0" bIns="0" rtlCol="0" anchor="ctr"/>
          <a:lstStyle/>
          <a:p>
            <a:pPr marL="0" indent="0" algn="ctr">
              <a:buNone/>
            </a:pPr>
            <a:r>
              <a:rPr lang="en-US" sz="1300" b="1" dirty="0">
                <a:solidFill>
                  <a:srgbClr val="5B2D8E"/>
                </a:solidFill>
                <a:latin typeface="Arial" pitchFamily="34" charset="0"/>
                <a:ea typeface="Arial" pitchFamily="34" charset="-122"/>
                <a:cs typeface="Arial" pitchFamily="34" charset="-120"/>
              </a:rPr>
              <a:t>Core Feature 1</a:t>
            </a:r>
            <a:endParaRPr lang="en-US" sz="1300" dirty="0"/>
          </a:p>
        </p:txBody>
      </p:sp>
      <p:sp>
        <p:nvSpPr>
          <p:cNvPr id="16" name="Shape 14"/>
          <p:cNvSpPr/>
          <p:nvPr/>
        </p:nvSpPr>
        <p:spPr>
          <a:xfrm>
            <a:off x="1097280" y="3182112"/>
            <a:ext cx="1188720" cy="36576"/>
          </a:xfrm>
          <a:prstGeom prst="rect">
            <a:avLst/>
          </a:prstGeom>
          <a:solidFill>
            <a:srgbClr val="F5C518"/>
          </a:solidFill>
          <a:ln w="12700">
            <a:solidFill>
              <a:srgbClr val="F5C518"/>
            </a:solidFill>
            <a:prstDash val="solid"/>
          </a:ln>
        </p:spPr>
      </p:sp>
      <p:sp>
        <p:nvSpPr>
          <p:cNvPr id="17" name="Text 15"/>
          <p:cNvSpPr/>
          <p:nvPr/>
        </p:nvSpPr>
        <p:spPr>
          <a:xfrm>
            <a:off x="457200" y="3273552"/>
            <a:ext cx="2468880" cy="1417320"/>
          </a:xfrm>
          <a:prstGeom prst="rect">
            <a:avLst/>
          </a:prstGeom>
          <a:noFill/>
          <a:ln/>
        </p:spPr>
        <p:txBody>
          <a:bodyPr wrap="square" lIns="0" tIns="0" rIns="0" bIns="0" rtlCol="0" anchor="t"/>
          <a:lstStyle/>
          <a:p>
            <a:pPr algn="ctr"/>
            <a:r>
              <a:rPr lang="en-US" sz="1400" b="1" dirty="0">
                <a:latin typeface="Times New Roman" panose="02020603050405020304" pitchFamily="18" charset="0"/>
                <a:cs typeface="Times New Roman" panose="02020603050405020304" pitchFamily="18" charset="0"/>
              </a:rPr>
              <a:t>Smart SOS System</a:t>
            </a:r>
          </a:p>
          <a:p>
            <a:pPr algn="just"/>
            <a:r>
              <a:rPr lang="en-US" sz="1400" dirty="0">
                <a:latin typeface="Times New Roman" panose="02020603050405020304" pitchFamily="18" charset="0"/>
                <a:cs typeface="Times New Roman" panose="02020603050405020304" pitchFamily="18" charset="0"/>
              </a:rPr>
              <a:t>Users can instantly trigger emergency alerts with a single tap, automatically sending location details to emergency contacts.</a:t>
            </a:r>
          </a:p>
        </p:txBody>
      </p:sp>
      <p:sp>
        <p:nvSpPr>
          <p:cNvPr id="18" name="Shape 16"/>
          <p:cNvSpPr/>
          <p:nvPr/>
        </p:nvSpPr>
        <p:spPr>
          <a:xfrm>
            <a:off x="3172968" y="2176272"/>
            <a:ext cx="2743200" cy="2651760"/>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19" name="Shape 17"/>
          <p:cNvSpPr/>
          <p:nvPr/>
        </p:nvSpPr>
        <p:spPr>
          <a:xfrm>
            <a:off x="3172968" y="2176272"/>
            <a:ext cx="2743200" cy="54864"/>
          </a:xfrm>
          <a:prstGeom prst="rect">
            <a:avLst/>
          </a:prstGeom>
          <a:solidFill>
            <a:srgbClr val="F5C518"/>
          </a:solidFill>
          <a:ln w="12700">
            <a:solidFill>
              <a:srgbClr val="F5C518"/>
            </a:solidFill>
            <a:prstDash val="solid"/>
          </a:ln>
        </p:spPr>
      </p:sp>
      <p:sp>
        <p:nvSpPr>
          <p:cNvPr id="20" name="Text 18"/>
          <p:cNvSpPr/>
          <p:nvPr/>
        </p:nvSpPr>
        <p:spPr>
          <a:xfrm>
            <a:off x="3172968" y="2286000"/>
            <a:ext cx="2743200" cy="502920"/>
          </a:xfrm>
          <a:prstGeom prst="rect">
            <a:avLst/>
          </a:prstGeom>
          <a:noFill/>
          <a:ln/>
        </p:spPr>
        <p:txBody>
          <a:bodyPr wrap="square" lIns="0" tIns="0" rIns="0" bIns="0"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1" name="Text 19"/>
          <p:cNvSpPr/>
          <p:nvPr/>
        </p:nvSpPr>
        <p:spPr>
          <a:xfrm>
            <a:off x="3310128" y="2816352"/>
            <a:ext cx="2468880" cy="347472"/>
          </a:xfrm>
          <a:prstGeom prst="rect">
            <a:avLst/>
          </a:prstGeom>
          <a:noFill/>
          <a:ln/>
        </p:spPr>
        <p:txBody>
          <a:bodyPr wrap="square" lIns="0" tIns="0" rIns="0" bIns="0" rtlCol="0" anchor="ctr"/>
          <a:lstStyle/>
          <a:p>
            <a:pPr marL="0" indent="0" algn="ctr">
              <a:buNone/>
            </a:pPr>
            <a:r>
              <a:rPr lang="en-US" sz="1300" b="1" dirty="0">
                <a:solidFill>
                  <a:srgbClr val="7B4DB5"/>
                </a:solidFill>
                <a:latin typeface="Arial" pitchFamily="34" charset="0"/>
                <a:ea typeface="Arial" pitchFamily="34" charset="-122"/>
                <a:cs typeface="Arial" pitchFamily="34" charset="-120"/>
              </a:rPr>
              <a:t>Core Feature 2</a:t>
            </a:r>
            <a:endParaRPr lang="en-US" sz="1300" dirty="0"/>
          </a:p>
        </p:txBody>
      </p:sp>
      <p:sp>
        <p:nvSpPr>
          <p:cNvPr id="22" name="Shape 20"/>
          <p:cNvSpPr/>
          <p:nvPr/>
        </p:nvSpPr>
        <p:spPr>
          <a:xfrm>
            <a:off x="3950208" y="3182112"/>
            <a:ext cx="1188720" cy="36576"/>
          </a:xfrm>
          <a:prstGeom prst="rect">
            <a:avLst/>
          </a:prstGeom>
          <a:solidFill>
            <a:srgbClr val="F5C518"/>
          </a:solidFill>
          <a:ln w="12700">
            <a:solidFill>
              <a:srgbClr val="F5C518"/>
            </a:solidFill>
            <a:prstDash val="solid"/>
          </a:ln>
        </p:spPr>
      </p:sp>
      <p:sp>
        <p:nvSpPr>
          <p:cNvPr id="23" name="Text 21"/>
          <p:cNvSpPr/>
          <p:nvPr/>
        </p:nvSpPr>
        <p:spPr>
          <a:xfrm>
            <a:off x="3310128" y="3273552"/>
            <a:ext cx="2468880" cy="1417320"/>
          </a:xfrm>
          <a:prstGeom prst="rect">
            <a:avLst/>
          </a:prstGeom>
          <a:noFill/>
          <a:ln/>
        </p:spPr>
        <p:txBody>
          <a:bodyPr wrap="square" lIns="0" tIns="0" rIns="0" bIns="0" rtlCol="0" anchor="t"/>
          <a:lstStyle/>
          <a:p>
            <a:pPr algn="ctr"/>
            <a:r>
              <a:rPr lang="en-US" sz="1400" b="1" dirty="0">
                <a:latin typeface="Times New Roman" panose="02020603050405020304" pitchFamily="18" charset="0"/>
                <a:cs typeface="Times New Roman" panose="02020603050405020304" pitchFamily="18" charset="0"/>
              </a:rPr>
              <a:t>Offline SMS Emergency Support</a:t>
            </a:r>
          </a:p>
          <a:p>
            <a:pPr algn="just"/>
            <a:r>
              <a:rPr lang="en-US" sz="1400" dirty="0">
                <a:latin typeface="Times New Roman" panose="02020603050405020304" pitchFamily="18" charset="0"/>
                <a:cs typeface="Times New Roman" panose="02020603050405020304" pitchFamily="18" charset="0"/>
              </a:rPr>
              <a:t>When internet connectivity is unavailable, the system automatically switches to SMS-based emergency communication.</a:t>
            </a:r>
          </a:p>
          <a:p>
            <a:pPr marL="0" indent="0" algn="ctr">
              <a:buNone/>
            </a:pPr>
            <a:endParaRPr lang="en-US" sz="1100" dirty="0"/>
          </a:p>
        </p:txBody>
      </p:sp>
      <p:sp>
        <p:nvSpPr>
          <p:cNvPr id="24" name="Shape 22"/>
          <p:cNvSpPr/>
          <p:nvPr/>
        </p:nvSpPr>
        <p:spPr>
          <a:xfrm>
            <a:off x="6025896" y="2176272"/>
            <a:ext cx="2743200" cy="2651760"/>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25" name="Shape 23"/>
          <p:cNvSpPr/>
          <p:nvPr/>
        </p:nvSpPr>
        <p:spPr>
          <a:xfrm>
            <a:off x="6025896" y="2176272"/>
            <a:ext cx="2743200" cy="54864"/>
          </a:xfrm>
          <a:prstGeom prst="rect">
            <a:avLst/>
          </a:prstGeom>
          <a:solidFill>
            <a:srgbClr val="F5C518"/>
          </a:solidFill>
          <a:ln w="12700">
            <a:solidFill>
              <a:srgbClr val="F5C518"/>
            </a:solidFill>
            <a:prstDash val="solid"/>
          </a:ln>
        </p:spPr>
      </p:sp>
      <p:sp>
        <p:nvSpPr>
          <p:cNvPr id="26" name="Text 24"/>
          <p:cNvSpPr/>
          <p:nvPr/>
        </p:nvSpPr>
        <p:spPr>
          <a:xfrm>
            <a:off x="6025896" y="2286000"/>
            <a:ext cx="2743200" cy="502920"/>
          </a:xfrm>
          <a:prstGeom prst="rect">
            <a:avLst/>
          </a:prstGeom>
          <a:noFill/>
          <a:ln/>
        </p:spPr>
        <p:txBody>
          <a:bodyPr wrap="square" lIns="0" tIns="0" rIns="0" bIns="0"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7" name="Text 25"/>
          <p:cNvSpPr/>
          <p:nvPr/>
        </p:nvSpPr>
        <p:spPr>
          <a:xfrm>
            <a:off x="6163056" y="2816352"/>
            <a:ext cx="2468880" cy="347472"/>
          </a:xfrm>
          <a:prstGeom prst="rect">
            <a:avLst/>
          </a:prstGeom>
          <a:noFill/>
          <a:ln/>
        </p:spPr>
        <p:txBody>
          <a:bodyPr wrap="square" lIns="0" tIns="0" rIns="0" bIns="0" rtlCol="0" anchor="ctr"/>
          <a:lstStyle/>
          <a:p>
            <a:pPr marL="0" indent="0" algn="ctr">
              <a:buNone/>
            </a:pPr>
            <a:r>
              <a:rPr lang="en-US" sz="1300" b="1" dirty="0">
                <a:solidFill>
                  <a:srgbClr val="9C6FCC"/>
                </a:solidFill>
                <a:latin typeface="Arial" pitchFamily="34" charset="0"/>
                <a:ea typeface="Arial" pitchFamily="34" charset="-122"/>
                <a:cs typeface="Arial" pitchFamily="34" charset="-120"/>
              </a:rPr>
              <a:t>Core Feature 3</a:t>
            </a:r>
            <a:endParaRPr lang="en-US" sz="1300" dirty="0"/>
          </a:p>
        </p:txBody>
      </p:sp>
      <p:sp>
        <p:nvSpPr>
          <p:cNvPr id="28" name="Shape 26"/>
          <p:cNvSpPr/>
          <p:nvPr/>
        </p:nvSpPr>
        <p:spPr>
          <a:xfrm>
            <a:off x="6803136" y="3182112"/>
            <a:ext cx="1188720" cy="36576"/>
          </a:xfrm>
          <a:prstGeom prst="rect">
            <a:avLst/>
          </a:prstGeom>
          <a:solidFill>
            <a:srgbClr val="F5C518"/>
          </a:solidFill>
          <a:ln w="12700">
            <a:solidFill>
              <a:srgbClr val="F5C518"/>
            </a:solidFill>
            <a:prstDash val="solid"/>
          </a:ln>
        </p:spPr>
      </p:sp>
      <p:sp>
        <p:nvSpPr>
          <p:cNvPr id="29" name="Text 27"/>
          <p:cNvSpPr/>
          <p:nvPr/>
        </p:nvSpPr>
        <p:spPr>
          <a:xfrm>
            <a:off x="6163056" y="3273552"/>
            <a:ext cx="2468880" cy="1417320"/>
          </a:xfrm>
          <a:prstGeom prst="rect">
            <a:avLst/>
          </a:prstGeom>
          <a:noFill/>
          <a:ln/>
        </p:spPr>
        <p:txBody>
          <a:bodyPr wrap="square" lIns="0" tIns="0" rIns="0" bIns="0" rtlCol="0" anchor="t"/>
          <a:lstStyle/>
          <a:p>
            <a:pPr algn="ctr"/>
            <a:r>
              <a:rPr lang="en-US" sz="1400" b="1" dirty="0">
                <a:latin typeface="Times New Roman" panose="02020603050405020304" pitchFamily="18" charset="0"/>
                <a:cs typeface="Times New Roman" panose="02020603050405020304" pitchFamily="18" charset="0"/>
              </a:rPr>
              <a:t>AI-Based Safety Monitoring</a:t>
            </a:r>
          </a:p>
          <a:p>
            <a:pPr algn="just"/>
            <a:r>
              <a:rPr lang="en-US" sz="1400" dirty="0">
                <a:latin typeface="Times New Roman" panose="02020603050405020304" pitchFamily="18" charset="0"/>
                <a:cs typeface="Times New Roman" panose="02020603050405020304" pitchFamily="18" charset="0"/>
              </a:rPr>
              <a:t>Rule-based intelligent monitoring detects suspicious situations such as falls, inactivity, and unsafe zone entry.</a:t>
            </a:r>
          </a:p>
        </p:txBody>
      </p:sp>
      <p:sp>
        <p:nvSpPr>
          <p:cNvPr id="30" name="Text 28"/>
          <p:cNvSpPr/>
          <p:nvPr/>
        </p:nvSpPr>
        <p:spPr>
          <a:xfrm>
            <a:off x="8595360" y="4846320"/>
            <a:ext cx="45720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10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673FE-324C-356D-C1F9-17C98E2FD87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C2750A-3486-1D5A-4BC2-5BEF874815A7}"/>
              </a:ext>
            </a:extLst>
          </p:cNvPr>
          <p:cNvSpPr/>
          <p:nvPr/>
        </p:nvSpPr>
        <p:spPr>
          <a:xfrm>
            <a:off x="0" y="0"/>
            <a:ext cx="9144000" cy="109728"/>
          </a:xfrm>
          <a:prstGeom prst="rect">
            <a:avLst/>
          </a:prstGeom>
          <a:solidFill>
            <a:srgbClr val="F5C518"/>
          </a:solidFill>
          <a:ln w="12700">
            <a:solidFill>
              <a:srgbClr val="F5C518"/>
            </a:solidFill>
            <a:prstDash val="solid"/>
          </a:ln>
        </p:spPr>
      </p:sp>
      <p:sp>
        <p:nvSpPr>
          <p:cNvPr id="3" name="Shape 1">
            <a:extLst>
              <a:ext uri="{FF2B5EF4-FFF2-40B4-BE49-F238E27FC236}">
                <a16:creationId xmlns:a16="http://schemas.microsoft.com/office/drawing/2014/main" id="{3C20A61B-83ED-C3CE-50B1-B2A52AC91829}"/>
              </a:ext>
            </a:extLst>
          </p:cNvPr>
          <p:cNvSpPr/>
          <p:nvPr/>
        </p:nvSpPr>
        <p:spPr>
          <a:xfrm>
            <a:off x="0" y="109728"/>
            <a:ext cx="9144000" cy="64008"/>
          </a:xfrm>
          <a:prstGeom prst="rect">
            <a:avLst/>
          </a:prstGeom>
          <a:solidFill>
            <a:srgbClr val="F5C518"/>
          </a:solidFill>
          <a:ln w="12700">
            <a:solidFill>
              <a:srgbClr val="F5C518"/>
            </a:solidFill>
            <a:prstDash val="solid"/>
          </a:ln>
        </p:spPr>
      </p:sp>
      <p:sp>
        <p:nvSpPr>
          <p:cNvPr id="4" name="Shape 2">
            <a:extLst>
              <a:ext uri="{FF2B5EF4-FFF2-40B4-BE49-F238E27FC236}">
                <a16:creationId xmlns:a16="http://schemas.microsoft.com/office/drawing/2014/main" id="{8FBC11E2-2669-29DE-F3D8-43D03FEC60A9}"/>
              </a:ext>
            </a:extLst>
          </p:cNvPr>
          <p:cNvSpPr/>
          <p:nvPr/>
        </p:nvSpPr>
        <p:spPr>
          <a:xfrm>
            <a:off x="320040" y="256032"/>
            <a:ext cx="1005840" cy="566928"/>
          </a:xfrm>
          <a:prstGeom prst="rect">
            <a:avLst/>
          </a:prstGeom>
          <a:solidFill>
            <a:srgbClr val="F5C518"/>
          </a:solidFill>
          <a:ln w="12700">
            <a:solidFill>
              <a:srgbClr val="F5C518"/>
            </a:solidFill>
            <a:prstDash val="solid"/>
          </a:ln>
        </p:spPr>
      </p:sp>
      <p:sp>
        <p:nvSpPr>
          <p:cNvPr id="5" name="Text 3">
            <a:extLst>
              <a:ext uri="{FF2B5EF4-FFF2-40B4-BE49-F238E27FC236}">
                <a16:creationId xmlns:a16="http://schemas.microsoft.com/office/drawing/2014/main" id="{2F05A586-557D-E7D8-9CC9-21F0C01D9AAF}"/>
              </a:ext>
            </a:extLst>
          </p:cNvPr>
          <p:cNvSpPr/>
          <p:nvPr/>
        </p:nvSpPr>
        <p:spPr>
          <a:xfrm>
            <a:off x="320040" y="256032"/>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Stage 4</a:t>
            </a:r>
            <a:endParaRPr lang="en-US" sz="900" dirty="0"/>
          </a:p>
        </p:txBody>
      </p:sp>
      <p:sp>
        <p:nvSpPr>
          <p:cNvPr id="6" name="Text 4">
            <a:extLst>
              <a:ext uri="{FF2B5EF4-FFF2-40B4-BE49-F238E27FC236}">
                <a16:creationId xmlns:a16="http://schemas.microsoft.com/office/drawing/2014/main" id="{6E7AF06F-2FEC-0DD2-D005-1086C4768183}"/>
              </a:ext>
            </a:extLst>
          </p:cNvPr>
          <p:cNvSpPr/>
          <p:nvPr/>
        </p:nvSpPr>
        <p:spPr>
          <a:xfrm>
            <a:off x="1463040" y="274320"/>
            <a:ext cx="7315200" cy="530352"/>
          </a:xfrm>
          <a:prstGeom prst="rect">
            <a:avLst/>
          </a:prstGeom>
          <a:noFill/>
          <a:ln/>
        </p:spPr>
        <p:txBody>
          <a:bodyPr wrap="square" lIns="0" tIns="0" rIns="0" bIns="0" rtlCol="0" anchor="ctr"/>
          <a:lstStyle/>
          <a:p>
            <a:pPr marL="0" indent="0" algn="l">
              <a:buNone/>
            </a:pPr>
            <a:r>
              <a:rPr lang="en-US" sz="2600" b="1" dirty="0">
                <a:solidFill>
                  <a:srgbClr val="5B2D8E"/>
                </a:solidFill>
                <a:latin typeface="Arial" pitchFamily="34" charset="0"/>
                <a:ea typeface="Arial" pitchFamily="34" charset="-122"/>
                <a:cs typeface="Arial" pitchFamily="34" charset="-120"/>
              </a:rPr>
              <a:t>Prototype-System Architecture</a:t>
            </a:r>
            <a:endParaRPr lang="en-US" sz="2600" dirty="0"/>
          </a:p>
        </p:txBody>
      </p:sp>
      <p:sp>
        <p:nvSpPr>
          <p:cNvPr id="14" name="Text 12">
            <a:extLst>
              <a:ext uri="{FF2B5EF4-FFF2-40B4-BE49-F238E27FC236}">
                <a16:creationId xmlns:a16="http://schemas.microsoft.com/office/drawing/2014/main" id="{671276A5-E05F-DEE9-A0C5-4DC915F5D602}"/>
              </a:ext>
            </a:extLst>
          </p:cNvPr>
          <p:cNvSpPr/>
          <p:nvPr/>
        </p:nvSpPr>
        <p:spPr>
          <a:xfrm>
            <a:off x="5477256" y="914400"/>
            <a:ext cx="15727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Prototype</a:t>
            </a:r>
            <a:endParaRPr lang="en-US" sz="900" dirty="0"/>
          </a:p>
        </p:txBody>
      </p:sp>
      <p:sp>
        <p:nvSpPr>
          <p:cNvPr id="29" name="Text 27">
            <a:extLst>
              <a:ext uri="{FF2B5EF4-FFF2-40B4-BE49-F238E27FC236}">
                <a16:creationId xmlns:a16="http://schemas.microsoft.com/office/drawing/2014/main" id="{ABBDDB0D-F34D-9DED-5F18-ECE532084213}"/>
              </a:ext>
            </a:extLst>
          </p:cNvPr>
          <p:cNvSpPr/>
          <p:nvPr/>
        </p:nvSpPr>
        <p:spPr>
          <a:xfrm>
            <a:off x="8686800" y="4846320"/>
            <a:ext cx="36576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8</a:t>
            </a:r>
            <a:endParaRPr lang="en-US" sz="900" dirty="0"/>
          </a:p>
        </p:txBody>
      </p:sp>
    </p:spTree>
    <p:extLst>
      <p:ext uri="{BB962C8B-B14F-4D97-AF65-F5344CB8AC3E}">
        <p14:creationId xmlns:p14="http://schemas.microsoft.com/office/powerpoint/2010/main" val="317838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C518"/>
          </a:solidFill>
          <a:ln w="12700">
            <a:solidFill>
              <a:srgbClr val="F5C518"/>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Shape 2"/>
          <p:cNvSpPr/>
          <p:nvPr/>
        </p:nvSpPr>
        <p:spPr>
          <a:xfrm>
            <a:off x="320040" y="256032"/>
            <a:ext cx="1005840" cy="566928"/>
          </a:xfrm>
          <a:prstGeom prst="rect">
            <a:avLst/>
          </a:prstGeom>
          <a:solidFill>
            <a:srgbClr val="F5C518"/>
          </a:solidFill>
          <a:ln w="12700">
            <a:solidFill>
              <a:srgbClr val="F5C518"/>
            </a:solidFill>
            <a:prstDash val="solid"/>
          </a:ln>
        </p:spPr>
      </p:sp>
      <p:sp>
        <p:nvSpPr>
          <p:cNvPr id="5" name="Text 3"/>
          <p:cNvSpPr/>
          <p:nvPr/>
        </p:nvSpPr>
        <p:spPr>
          <a:xfrm>
            <a:off x="320040" y="256032"/>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Stage 4</a:t>
            </a:r>
            <a:endParaRPr lang="en-US" sz="900" dirty="0"/>
          </a:p>
        </p:txBody>
      </p:sp>
      <p:sp>
        <p:nvSpPr>
          <p:cNvPr id="6" name="Text 4"/>
          <p:cNvSpPr/>
          <p:nvPr/>
        </p:nvSpPr>
        <p:spPr>
          <a:xfrm>
            <a:off x="1463040" y="274320"/>
            <a:ext cx="7315200" cy="530352"/>
          </a:xfrm>
          <a:prstGeom prst="rect">
            <a:avLst/>
          </a:prstGeom>
          <a:noFill/>
          <a:ln/>
        </p:spPr>
        <p:txBody>
          <a:bodyPr wrap="square" lIns="0" tIns="0" rIns="0" bIns="0" rtlCol="0" anchor="ctr"/>
          <a:lstStyle/>
          <a:p>
            <a:pPr marL="0" indent="0" algn="l">
              <a:buNone/>
            </a:pPr>
            <a:r>
              <a:rPr lang="en-US" sz="2600" b="1" dirty="0">
                <a:solidFill>
                  <a:srgbClr val="5B2D8E"/>
                </a:solidFill>
                <a:latin typeface="Arial" pitchFamily="34" charset="0"/>
                <a:ea typeface="Arial" pitchFamily="34" charset="-122"/>
                <a:cs typeface="Arial" pitchFamily="34" charset="-120"/>
              </a:rPr>
              <a:t>Prototype-Modules Description</a:t>
            </a:r>
            <a:endParaRPr lang="en-US" sz="2600" dirty="0"/>
          </a:p>
        </p:txBody>
      </p:sp>
      <p:sp>
        <p:nvSpPr>
          <p:cNvPr id="14" name="Text 12"/>
          <p:cNvSpPr/>
          <p:nvPr/>
        </p:nvSpPr>
        <p:spPr>
          <a:xfrm>
            <a:off x="5477256" y="914400"/>
            <a:ext cx="15727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Prototype</a:t>
            </a:r>
            <a:endParaRPr lang="en-US" sz="900" dirty="0"/>
          </a:p>
        </p:txBody>
      </p:sp>
      <p:sp>
        <p:nvSpPr>
          <p:cNvPr id="29" name="Text 27"/>
          <p:cNvSpPr/>
          <p:nvPr/>
        </p:nvSpPr>
        <p:spPr>
          <a:xfrm>
            <a:off x="8686800" y="4846320"/>
            <a:ext cx="36576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8</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30CD3-C434-4D62-ADE1-527B3537949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8997088-4ED7-4994-856E-5AF1AEF1EF21}"/>
              </a:ext>
            </a:extLst>
          </p:cNvPr>
          <p:cNvSpPr/>
          <p:nvPr/>
        </p:nvSpPr>
        <p:spPr>
          <a:xfrm>
            <a:off x="0" y="0"/>
            <a:ext cx="9144000" cy="109728"/>
          </a:xfrm>
          <a:prstGeom prst="rect">
            <a:avLst/>
          </a:prstGeom>
          <a:solidFill>
            <a:srgbClr val="F5C518"/>
          </a:solidFill>
          <a:ln w="12700">
            <a:solidFill>
              <a:srgbClr val="F5C518"/>
            </a:solidFill>
            <a:prstDash val="solid"/>
          </a:ln>
        </p:spPr>
      </p:sp>
      <p:sp>
        <p:nvSpPr>
          <p:cNvPr id="3" name="Shape 1">
            <a:extLst>
              <a:ext uri="{FF2B5EF4-FFF2-40B4-BE49-F238E27FC236}">
                <a16:creationId xmlns:a16="http://schemas.microsoft.com/office/drawing/2014/main" id="{658D38EE-E131-A3B8-BC8E-7FDF75D3A11C}"/>
              </a:ext>
            </a:extLst>
          </p:cNvPr>
          <p:cNvSpPr/>
          <p:nvPr/>
        </p:nvSpPr>
        <p:spPr>
          <a:xfrm>
            <a:off x="0" y="109728"/>
            <a:ext cx="9144000" cy="64008"/>
          </a:xfrm>
          <a:prstGeom prst="rect">
            <a:avLst/>
          </a:prstGeom>
          <a:solidFill>
            <a:srgbClr val="F5C518"/>
          </a:solidFill>
          <a:ln w="12700">
            <a:solidFill>
              <a:srgbClr val="F5C518"/>
            </a:solidFill>
            <a:prstDash val="solid"/>
          </a:ln>
        </p:spPr>
      </p:sp>
      <p:sp>
        <p:nvSpPr>
          <p:cNvPr id="4" name="Shape 2">
            <a:extLst>
              <a:ext uri="{FF2B5EF4-FFF2-40B4-BE49-F238E27FC236}">
                <a16:creationId xmlns:a16="http://schemas.microsoft.com/office/drawing/2014/main" id="{A04B6DCF-238C-E416-571E-8D6DD9DBCF66}"/>
              </a:ext>
            </a:extLst>
          </p:cNvPr>
          <p:cNvSpPr/>
          <p:nvPr/>
        </p:nvSpPr>
        <p:spPr>
          <a:xfrm>
            <a:off x="320040" y="256032"/>
            <a:ext cx="1005840" cy="566928"/>
          </a:xfrm>
          <a:prstGeom prst="rect">
            <a:avLst/>
          </a:prstGeom>
          <a:solidFill>
            <a:srgbClr val="F5C518"/>
          </a:solidFill>
          <a:ln w="12700">
            <a:solidFill>
              <a:srgbClr val="F5C518"/>
            </a:solidFill>
            <a:prstDash val="solid"/>
          </a:ln>
        </p:spPr>
      </p:sp>
      <p:sp>
        <p:nvSpPr>
          <p:cNvPr id="5" name="Text 3">
            <a:extLst>
              <a:ext uri="{FF2B5EF4-FFF2-40B4-BE49-F238E27FC236}">
                <a16:creationId xmlns:a16="http://schemas.microsoft.com/office/drawing/2014/main" id="{F1ED5A31-AD4D-672A-BE9F-3C48947DCB91}"/>
              </a:ext>
            </a:extLst>
          </p:cNvPr>
          <p:cNvSpPr/>
          <p:nvPr/>
        </p:nvSpPr>
        <p:spPr>
          <a:xfrm>
            <a:off x="320040" y="256032"/>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Stage 4</a:t>
            </a:r>
            <a:endParaRPr lang="en-US" sz="900" dirty="0"/>
          </a:p>
        </p:txBody>
      </p:sp>
      <p:sp>
        <p:nvSpPr>
          <p:cNvPr id="6" name="Text 4">
            <a:extLst>
              <a:ext uri="{FF2B5EF4-FFF2-40B4-BE49-F238E27FC236}">
                <a16:creationId xmlns:a16="http://schemas.microsoft.com/office/drawing/2014/main" id="{94EB70BA-D948-5B98-0AC0-7285E11DC50A}"/>
              </a:ext>
            </a:extLst>
          </p:cNvPr>
          <p:cNvSpPr/>
          <p:nvPr/>
        </p:nvSpPr>
        <p:spPr>
          <a:xfrm>
            <a:off x="1463040" y="274320"/>
            <a:ext cx="7315200" cy="530352"/>
          </a:xfrm>
          <a:prstGeom prst="rect">
            <a:avLst/>
          </a:prstGeom>
          <a:noFill/>
          <a:ln/>
        </p:spPr>
        <p:txBody>
          <a:bodyPr wrap="square" lIns="0" tIns="0" rIns="0" bIns="0" rtlCol="0" anchor="ctr"/>
          <a:lstStyle/>
          <a:p>
            <a:pPr marL="0" indent="0" algn="l">
              <a:buNone/>
            </a:pPr>
            <a:r>
              <a:rPr lang="en-US" sz="2600" b="1" dirty="0">
                <a:solidFill>
                  <a:srgbClr val="5B2D8E"/>
                </a:solidFill>
                <a:latin typeface="Arial" pitchFamily="34" charset="0"/>
                <a:ea typeface="Arial" pitchFamily="34" charset="-122"/>
                <a:cs typeface="Arial" pitchFamily="34" charset="-120"/>
              </a:rPr>
              <a:t>Prototype-Modules Description</a:t>
            </a:r>
            <a:endParaRPr lang="en-US" sz="2600" dirty="0"/>
          </a:p>
        </p:txBody>
      </p:sp>
      <p:sp>
        <p:nvSpPr>
          <p:cNvPr id="14" name="Text 12">
            <a:extLst>
              <a:ext uri="{FF2B5EF4-FFF2-40B4-BE49-F238E27FC236}">
                <a16:creationId xmlns:a16="http://schemas.microsoft.com/office/drawing/2014/main" id="{0B45F6BE-0AD9-11AC-6765-1FCB868481BF}"/>
              </a:ext>
            </a:extLst>
          </p:cNvPr>
          <p:cNvSpPr/>
          <p:nvPr/>
        </p:nvSpPr>
        <p:spPr>
          <a:xfrm>
            <a:off x="5477256" y="914400"/>
            <a:ext cx="15727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Prototype</a:t>
            </a:r>
            <a:endParaRPr lang="en-US" sz="900" dirty="0"/>
          </a:p>
        </p:txBody>
      </p:sp>
      <p:sp>
        <p:nvSpPr>
          <p:cNvPr id="29" name="Text 27">
            <a:extLst>
              <a:ext uri="{FF2B5EF4-FFF2-40B4-BE49-F238E27FC236}">
                <a16:creationId xmlns:a16="http://schemas.microsoft.com/office/drawing/2014/main" id="{567E53E0-2216-E51D-2E9A-B71B4F0219AC}"/>
              </a:ext>
            </a:extLst>
          </p:cNvPr>
          <p:cNvSpPr/>
          <p:nvPr/>
        </p:nvSpPr>
        <p:spPr>
          <a:xfrm>
            <a:off x="8686800" y="4846320"/>
            <a:ext cx="36576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8</a:t>
            </a:r>
            <a:endParaRPr lang="en-US" sz="900" dirty="0"/>
          </a:p>
        </p:txBody>
      </p:sp>
    </p:spTree>
    <p:extLst>
      <p:ext uri="{BB962C8B-B14F-4D97-AF65-F5344CB8AC3E}">
        <p14:creationId xmlns:p14="http://schemas.microsoft.com/office/powerpoint/2010/main" val="15736206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B2D8E"/>
          </a:solidFill>
          <a:ln w="12700">
            <a:solidFill>
              <a:srgbClr val="5B2D8E"/>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Text 2"/>
          <p:cNvSpPr/>
          <p:nvPr/>
        </p:nvSpPr>
        <p:spPr>
          <a:xfrm>
            <a:off x="365760" y="237744"/>
            <a:ext cx="8412480" cy="594360"/>
          </a:xfrm>
          <a:prstGeom prst="rect">
            <a:avLst/>
          </a:prstGeom>
          <a:noFill/>
          <a:ln/>
        </p:spPr>
        <p:txBody>
          <a:bodyPr wrap="square" lIns="0" tIns="0" rIns="0" bIns="0" rtlCol="0" anchor="ctr"/>
          <a:lstStyle/>
          <a:p>
            <a:pPr marL="0" indent="0" algn="l">
              <a:buNone/>
            </a:pPr>
            <a:r>
              <a:rPr lang="en-US" sz="2400" b="1" dirty="0">
                <a:solidFill>
                  <a:srgbClr val="5B2D8E"/>
                </a:solidFill>
                <a:latin typeface="Arial" pitchFamily="34" charset="0"/>
                <a:ea typeface="Arial" pitchFamily="34" charset="-122"/>
                <a:cs typeface="Arial" pitchFamily="34" charset="-120"/>
              </a:rPr>
              <a:t>Prototype Demo &amp; Impact</a:t>
            </a:r>
            <a:endParaRPr lang="en-US" sz="2400" dirty="0"/>
          </a:p>
        </p:txBody>
      </p:sp>
      <p:sp>
        <p:nvSpPr>
          <p:cNvPr id="5" name="Shape 3"/>
          <p:cNvSpPr/>
          <p:nvPr/>
        </p:nvSpPr>
        <p:spPr>
          <a:xfrm>
            <a:off x="365760" y="850392"/>
            <a:ext cx="8412480" cy="27432"/>
          </a:xfrm>
          <a:prstGeom prst="rect">
            <a:avLst/>
          </a:prstGeom>
          <a:solidFill>
            <a:srgbClr val="D1C4E9"/>
          </a:solidFill>
          <a:ln w="12700">
            <a:solidFill>
              <a:srgbClr val="D1C4E9"/>
            </a:solidFill>
            <a:prstDash val="solid"/>
          </a:ln>
        </p:spPr>
      </p:sp>
      <p:sp>
        <p:nvSpPr>
          <p:cNvPr id="6" name="Shape 4"/>
          <p:cNvSpPr/>
          <p:nvPr/>
        </p:nvSpPr>
        <p:spPr>
          <a:xfrm>
            <a:off x="320040" y="987552"/>
            <a:ext cx="5166360" cy="3840480"/>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7" name="Shape 5"/>
          <p:cNvSpPr/>
          <p:nvPr/>
        </p:nvSpPr>
        <p:spPr>
          <a:xfrm>
            <a:off x="320040" y="987552"/>
            <a:ext cx="5166360" cy="438912"/>
          </a:xfrm>
          <a:prstGeom prst="rect">
            <a:avLst/>
          </a:prstGeom>
          <a:solidFill>
            <a:srgbClr val="5B2D8E"/>
          </a:solidFill>
          <a:ln w="12700">
            <a:solidFill>
              <a:srgbClr val="5B2D8E"/>
            </a:solidFill>
            <a:prstDash val="solid"/>
          </a:ln>
        </p:spPr>
      </p:sp>
      <p:sp>
        <p:nvSpPr>
          <p:cNvPr id="8" name="Text 6"/>
          <p:cNvSpPr/>
          <p:nvPr/>
        </p:nvSpPr>
        <p:spPr>
          <a:xfrm>
            <a:off x="475488" y="987552"/>
            <a:ext cx="4892040" cy="438912"/>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  Prototype Walkthrough</a:t>
            </a:r>
            <a:endParaRPr lang="en-US" sz="1300" dirty="0"/>
          </a:p>
        </p:txBody>
      </p:sp>
      <p:sp>
        <p:nvSpPr>
          <p:cNvPr id="9" name="Shape 7"/>
          <p:cNvSpPr/>
          <p:nvPr/>
        </p:nvSpPr>
        <p:spPr>
          <a:xfrm>
            <a:off x="475488" y="1536192"/>
            <a:ext cx="4846320" cy="2240280"/>
          </a:xfrm>
          <a:prstGeom prst="rect">
            <a:avLst/>
          </a:prstGeom>
          <a:solidFill>
            <a:srgbClr val="EEEEEE"/>
          </a:solidFill>
          <a:ln w="12700">
            <a:solidFill>
              <a:srgbClr val="D1C4E9"/>
            </a:solidFill>
            <a:prstDash val="solid"/>
          </a:ln>
        </p:spPr>
      </p:sp>
      <p:sp>
        <p:nvSpPr>
          <p:cNvPr id="10" name="Text 8"/>
          <p:cNvSpPr/>
          <p:nvPr/>
        </p:nvSpPr>
        <p:spPr>
          <a:xfrm>
            <a:off x="475488" y="1536192"/>
            <a:ext cx="4846320" cy="2240280"/>
          </a:xfrm>
          <a:prstGeom prst="rect">
            <a:avLst/>
          </a:prstGeom>
          <a:noFill/>
          <a:ln/>
        </p:spPr>
        <p:txBody>
          <a:bodyPr wrap="square" lIns="0" tIns="0" rIns="0" bIns="0" rtlCol="0" anchor="ctr"/>
          <a:lstStyle/>
          <a:p>
            <a:pPr marL="0" indent="0" algn="ctr">
              <a:buNone/>
            </a:pPr>
            <a:r>
              <a:rPr lang="en-US" sz="1200" i="1" dirty="0">
                <a:solidFill>
                  <a:srgbClr val="666666"/>
                </a:solidFill>
                <a:latin typeface="Arial" pitchFamily="34" charset="0"/>
                <a:ea typeface="Arial" pitchFamily="34" charset="-122"/>
                <a:cs typeface="Arial" pitchFamily="34" charset="-120"/>
              </a:rPr>
              <a:t>[ Insert Prototype Screenshot / Photo / QR Code Here ]</a:t>
            </a:r>
            <a:endParaRPr lang="en-US" sz="1200" dirty="0"/>
          </a:p>
        </p:txBody>
      </p:sp>
      <p:sp>
        <p:nvSpPr>
          <p:cNvPr id="11" name="Shape 9"/>
          <p:cNvSpPr/>
          <p:nvPr/>
        </p:nvSpPr>
        <p:spPr>
          <a:xfrm>
            <a:off x="475488" y="3840480"/>
            <a:ext cx="4846320" cy="36576"/>
          </a:xfrm>
          <a:prstGeom prst="rect">
            <a:avLst/>
          </a:prstGeom>
          <a:solidFill>
            <a:srgbClr val="F5C518"/>
          </a:solidFill>
          <a:ln w="12700">
            <a:solidFill>
              <a:srgbClr val="F5C518"/>
            </a:solidFill>
            <a:prstDash val="solid"/>
          </a:ln>
        </p:spPr>
      </p:sp>
      <p:sp>
        <p:nvSpPr>
          <p:cNvPr id="12" name="Text 10"/>
          <p:cNvSpPr/>
          <p:nvPr/>
        </p:nvSpPr>
        <p:spPr>
          <a:xfrm>
            <a:off x="475488" y="3913632"/>
            <a:ext cx="4846320" cy="274320"/>
          </a:xfrm>
          <a:prstGeom prst="rect">
            <a:avLst/>
          </a:prstGeom>
          <a:noFill/>
          <a:ln/>
        </p:spPr>
        <p:txBody>
          <a:bodyPr wrap="square" lIns="0" tIns="0" rIns="0" bIns="0" rtlCol="0" anchor="ctr"/>
          <a:lstStyle/>
          <a:p>
            <a:pPr marL="0" indent="0">
              <a:buNone/>
            </a:pPr>
            <a:r>
              <a:rPr lang="en-US" sz="1100" dirty="0">
                <a:solidFill>
                  <a:srgbClr val="5B2D8E"/>
                </a:solidFill>
                <a:latin typeface="Arial" pitchFamily="34" charset="0"/>
                <a:ea typeface="Arial" pitchFamily="34" charset="-122"/>
                <a:cs typeface="Arial" pitchFamily="34" charset="-120"/>
              </a:rPr>
              <a:t>Demo Link / QR Code: ___________________________</a:t>
            </a:r>
            <a:endParaRPr lang="en-US" sz="1100" dirty="0"/>
          </a:p>
        </p:txBody>
      </p:sp>
      <p:sp>
        <p:nvSpPr>
          <p:cNvPr id="13" name="Text 11"/>
          <p:cNvSpPr/>
          <p:nvPr/>
        </p:nvSpPr>
        <p:spPr>
          <a:xfrm>
            <a:off x="475488" y="4224528"/>
            <a:ext cx="4846320" cy="27432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Prototype Type: Digital </a:t>
            </a:r>
            <a:endParaRPr lang="en-US" sz="1000" dirty="0"/>
          </a:p>
        </p:txBody>
      </p:sp>
      <p:sp>
        <p:nvSpPr>
          <p:cNvPr id="14" name="Shape 12"/>
          <p:cNvSpPr/>
          <p:nvPr/>
        </p:nvSpPr>
        <p:spPr>
          <a:xfrm>
            <a:off x="5669280" y="987552"/>
            <a:ext cx="3154680" cy="3840480"/>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sp>
      <p:sp>
        <p:nvSpPr>
          <p:cNvPr id="15" name="Shape 13"/>
          <p:cNvSpPr/>
          <p:nvPr/>
        </p:nvSpPr>
        <p:spPr>
          <a:xfrm>
            <a:off x="5669280" y="987552"/>
            <a:ext cx="3154680" cy="438912"/>
          </a:xfrm>
          <a:prstGeom prst="rect">
            <a:avLst/>
          </a:prstGeom>
          <a:solidFill>
            <a:srgbClr val="7B4DB5"/>
          </a:solidFill>
          <a:ln w="12700">
            <a:solidFill>
              <a:srgbClr val="7B4DB5"/>
            </a:solidFill>
            <a:prstDash val="solid"/>
          </a:ln>
        </p:spPr>
      </p:sp>
      <p:sp>
        <p:nvSpPr>
          <p:cNvPr id="16" name="Text 14"/>
          <p:cNvSpPr/>
          <p:nvPr/>
        </p:nvSpPr>
        <p:spPr>
          <a:xfrm>
            <a:off x="5824728" y="987552"/>
            <a:ext cx="2834640" cy="438912"/>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  Expected Impact</a:t>
            </a:r>
            <a:endParaRPr lang="en-US" sz="1300" dirty="0"/>
          </a:p>
        </p:txBody>
      </p:sp>
      <p:sp>
        <p:nvSpPr>
          <p:cNvPr id="17" name="Shape 15"/>
          <p:cNvSpPr/>
          <p:nvPr/>
        </p:nvSpPr>
        <p:spPr>
          <a:xfrm>
            <a:off x="5824728" y="1554480"/>
            <a:ext cx="2834640" cy="658368"/>
          </a:xfrm>
          <a:prstGeom prst="rect">
            <a:avLst/>
          </a:prstGeom>
          <a:solidFill>
            <a:srgbClr val="FFFFFF"/>
          </a:solidFill>
          <a:ln w="12700">
            <a:solidFill>
              <a:srgbClr val="D1C4E9"/>
            </a:solidFill>
            <a:prstDash val="solid"/>
          </a:ln>
        </p:spPr>
      </p:sp>
      <p:sp>
        <p:nvSpPr>
          <p:cNvPr id="18" name="Shape 16"/>
          <p:cNvSpPr/>
          <p:nvPr/>
        </p:nvSpPr>
        <p:spPr>
          <a:xfrm>
            <a:off x="5824728" y="1554480"/>
            <a:ext cx="54864" cy="658368"/>
          </a:xfrm>
          <a:prstGeom prst="rect">
            <a:avLst/>
          </a:prstGeom>
          <a:solidFill>
            <a:srgbClr val="F5C518"/>
          </a:solidFill>
          <a:ln w="12700">
            <a:solidFill>
              <a:srgbClr val="F5C518"/>
            </a:solidFill>
            <a:prstDash val="solid"/>
          </a:ln>
        </p:spPr>
      </p:sp>
      <p:sp>
        <p:nvSpPr>
          <p:cNvPr id="19" name="Text 17"/>
          <p:cNvSpPr/>
          <p:nvPr/>
        </p:nvSpPr>
        <p:spPr>
          <a:xfrm>
            <a:off x="5916168" y="1554480"/>
            <a:ext cx="411480" cy="658368"/>
          </a:xfrm>
          <a:prstGeom prst="rect">
            <a:avLst/>
          </a:prstGeom>
          <a:noFill/>
          <a:ln/>
        </p:spPr>
        <p:txBody>
          <a:bodyPr wrap="square" lIns="0" tIns="0" rIns="0" bIns="0" rtlCol="0" anchor="ctr"/>
          <a:lstStyle/>
          <a:p>
            <a:pPr marL="0" indent="0" algn="ctr">
              <a:buNone/>
            </a:pPr>
            <a:r>
              <a:rPr lang="en-US" sz="1500" dirty="0">
                <a:solidFill>
                  <a:srgbClr val="000000"/>
                </a:solidFill>
                <a:latin typeface="Arial" pitchFamily="34" charset="0"/>
                <a:ea typeface="Arial" pitchFamily="34" charset="-122"/>
                <a:cs typeface="Arial" pitchFamily="34" charset="-120"/>
              </a:rPr>
              <a:t>👥</a:t>
            </a:r>
            <a:endParaRPr lang="en-US" sz="1500" dirty="0"/>
          </a:p>
        </p:txBody>
      </p:sp>
      <p:sp>
        <p:nvSpPr>
          <p:cNvPr id="20" name="Text 18"/>
          <p:cNvSpPr/>
          <p:nvPr/>
        </p:nvSpPr>
        <p:spPr>
          <a:xfrm>
            <a:off x="6355080" y="1609344"/>
            <a:ext cx="2194560" cy="237744"/>
          </a:xfrm>
          <a:prstGeom prst="rect">
            <a:avLst/>
          </a:prstGeom>
          <a:noFill/>
          <a:ln/>
        </p:spPr>
        <p:txBody>
          <a:bodyPr wrap="square" lIns="0" tIns="0" rIns="0" bIns="0" rtlCol="0" anchor="ctr"/>
          <a:lstStyle/>
          <a:p>
            <a:pPr marL="0" indent="0">
              <a:buNone/>
            </a:pPr>
            <a:r>
              <a:rPr lang="en-US" sz="1000" b="1" dirty="0">
                <a:solidFill>
                  <a:srgbClr val="5B2D8E"/>
                </a:solidFill>
                <a:latin typeface="Arial" pitchFamily="34" charset="0"/>
                <a:ea typeface="Arial" pitchFamily="34" charset="-122"/>
                <a:cs typeface="Arial" pitchFamily="34" charset="-120"/>
              </a:rPr>
              <a:t>Users Benefited</a:t>
            </a:r>
            <a:endParaRPr lang="en-US" sz="1000" dirty="0"/>
          </a:p>
        </p:txBody>
      </p:sp>
      <p:sp>
        <p:nvSpPr>
          <p:cNvPr id="21" name="Text 19"/>
          <p:cNvSpPr/>
          <p:nvPr/>
        </p:nvSpPr>
        <p:spPr>
          <a:xfrm>
            <a:off x="6355080" y="1883664"/>
            <a:ext cx="2194560" cy="237744"/>
          </a:xfrm>
          <a:prstGeom prst="rect">
            <a:avLst/>
          </a:prstGeom>
          <a:noFill/>
          <a:ln/>
        </p:spPr>
        <p:txBody>
          <a:bodyPr wrap="square" lIns="0" tIns="0" rIns="0" bIns="0" rtlCol="0" anchor="ctr"/>
          <a:lstStyle/>
          <a:p>
            <a:r>
              <a:rPr lang="en-US" sz="1200" dirty="0">
                <a:latin typeface="Times New Roman" panose="02020603050405020304" pitchFamily="18" charset="0"/>
                <a:cs typeface="Times New Roman" panose="02020603050405020304" pitchFamily="18" charset="0"/>
              </a:rPr>
              <a:t>Women, students, elderly people, and solo travelers</a:t>
            </a:r>
          </a:p>
        </p:txBody>
      </p:sp>
      <p:sp>
        <p:nvSpPr>
          <p:cNvPr id="22" name="Shape 20"/>
          <p:cNvSpPr/>
          <p:nvPr/>
        </p:nvSpPr>
        <p:spPr>
          <a:xfrm>
            <a:off x="5824728" y="2359152"/>
            <a:ext cx="2834640" cy="658368"/>
          </a:xfrm>
          <a:prstGeom prst="rect">
            <a:avLst/>
          </a:prstGeom>
          <a:solidFill>
            <a:srgbClr val="FFFFFF"/>
          </a:solidFill>
          <a:ln w="12700">
            <a:solidFill>
              <a:srgbClr val="D1C4E9"/>
            </a:solidFill>
            <a:prstDash val="solid"/>
          </a:ln>
        </p:spPr>
      </p:sp>
      <p:sp>
        <p:nvSpPr>
          <p:cNvPr id="23" name="Shape 21"/>
          <p:cNvSpPr/>
          <p:nvPr/>
        </p:nvSpPr>
        <p:spPr>
          <a:xfrm>
            <a:off x="5824728" y="2359152"/>
            <a:ext cx="54864" cy="658368"/>
          </a:xfrm>
          <a:prstGeom prst="rect">
            <a:avLst/>
          </a:prstGeom>
          <a:solidFill>
            <a:srgbClr val="F5C518"/>
          </a:solidFill>
          <a:ln w="12700">
            <a:solidFill>
              <a:srgbClr val="F5C518"/>
            </a:solidFill>
            <a:prstDash val="solid"/>
          </a:ln>
        </p:spPr>
      </p:sp>
      <p:sp>
        <p:nvSpPr>
          <p:cNvPr id="24" name="Text 22"/>
          <p:cNvSpPr/>
          <p:nvPr/>
        </p:nvSpPr>
        <p:spPr>
          <a:xfrm>
            <a:off x="5916168" y="2359152"/>
            <a:ext cx="411480" cy="658368"/>
          </a:xfrm>
          <a:prstGeom prst="rect">
            <a:avLst/>
          </a:prstGeom>
          <a:noFill/>
          <a:ln/>
        </p:spPr>
        <p:txBody>
          <a:bodyPr wrap="square" lIns="0" tIns="0" rIns="0" bIns="0" rtlCol="0" anchor="ctr"/>
          <a:lstStyle/>
          <a:p>
            <a:pPr marL="0" indent="0" algn="ctr">
              <a:buNone/>
            </a:pPr>
            <a:r>
              <a:rPr lang="en-US" sz="1500" dirty="0">
                <a:solidFill>
                  <a:srgbClr val="000000"/>
                </a:solidFill>
                <a:latin typeface="Arial" pitchFamily="34" charset="0"/>
                <a:ea typeface="Arial" pitchFamily="34" charset="-122"/>
                <a:cs typeface="Arial" pitchFamily="34" charset="-120"/>
              </a:rPr>
              <a:t>🎯</a:t>
            </a:r>
            <a:endParaRPr lang="en-US" sz="1500" dirty="0"/>
          </a:p>
        </p:txBody>
      </p:sp>
      <p:sp>
        <p:nvSpPr>
          <p:cNvPr id="25" name="Text 23"/>
          <p:cNvSpPr/>
          <p:nvPr/>
        </p:nvSpPr>
        <p:spPr>
          <a:xfrm>
            <a:off x="6355080" y="2414016"/>
            <a:ext cx="2194560" cy="237744"/>
          </a:xfrm>
          <a:prstGeom prst="rect">
            <a:avLst/>
          </a:prstGeom>
          <a:noFill/>
          <a:ln/>
        </p:spPr>
        <p:txBody>
          <a:bodyPr wrap="square" lIns="0" tIns="0" rIns="0" bIns="0" rtlCol="0" anchor="ctr"/>
          <a:lstStyle/>
          <a:p>
            <a:pPr marL="0" indent="0">
              <a:buNone/>
            </a:pPr>
            <a:r>
              <a:rPr lang="en-US" sz="1000" b="1" dirty="0">
                <a:solidFill>
                  <a:srgbClr val="5B2D8E"/>
                </a:solidFill>
                <a:latin typeface="Arial" pitchFamily="34" charset="0"/>
                <a:ea typeface="Arial" pitchFamily="34" charset="-122"/>
                <a:cs typeface="Arial" pitchFamily="34" charset="-120"/>
              </a:rPr>
              <a:t>Problem Addressed</a:t>
            </a:r>
            <a:endParaRPr lang="en-US" sz="1000" dirty="0"/>
          </a:p>
        </p:txBody>
      </p:sp>
      <p:sp>
        <p:nvSpPr>
          <p:cNvPr id="26" name="Text 24"/>
          <p:cNvSpPr/>
          <p:nvPr/>
        </p:nvSpPr>
        <p:spPr>
          <a:xfrm>
            <a:off x="6355080" y="2688336"/>
            <a:ext cx="2194560" cy="237744"/>
          </a:xfrm>
          <a:prstGeom prst="rect">
            <a:avLst/>
          </a:prstGeom>
          <a:noFill/>
          <a:ln/>
        </p:spPr>
        <p:txBody>
          <a:bodyPr wrap="square" lIns="0" tIns="0" rIns="0" bIns="0" rtlCol="0" anchor="ctr"/>
          <a:lstStyle/>
          <a:p>
            <a:r>
              <a:rPr lang="en-US" sz="1200" dirty="0">
                <a:latin typeface="Times New Roman" panose="02020603050405020304" pitchFamily="18" charset="0"/>
                <a:cs typeface="Times New Roman" panose="02020603050405020304" pitchFamily="18" charset="0"/>
              </a:rPr>
              <a:t>Emergency communication delay during unsafe situations</a:t>
            </a:r>
          </a:p>
        </p:txBody>
      </p:sp>
      <p:sp>
        <p:nvSpPr>
          <p:cNvPr id="27" name="Shape 25"/>
          <p:cNvSpPr/>
          <p:nvPr/>
        </p:nvSpPr>
        <p:spPr>
          <a:xfrm>
            <a:off x="5824728" y="3163824"/>
            <a:ext cx="2834640" cy="658368"/>
          </a:xfrm>
          <a:prstGeom prst="rect">
            <a:avLst/>
          </a:prstGeom>
          <a:solidFill>
            <a:srgbClr val="FFFFFF"/>
          </a:solidFill>
          <a:ln w="12700">
            <a:solidFill>
              <a:srgbClr val="D1C4E9"/>
            </a:solidFill>
            <a:prstDash val="solid"/>
          </a:ln>
        </p:spPr>
      </p:sp>
      <p:sp>
        <p:nvSpPr>
          <p:cNvPr id="28" name="Shape 26"/>
          <p:cNvSpPr/>
          <p:nvPr/>
        </p:nvSpPr>
        <p:spPr>
          <a:xfrm>
            <a:off x="5824728" y="3163824"/>
            <a:ext cx="54864" cy="658368"/>
          </a:xfrm>
          <a:prstGeom prst="rect">
            <a:avLst/>
          </a:prstGeom>
          <a:solidFill>
            <a:srgbClr val="F5C518"/>
          </a:solidFill>
          <a:ln w="12700">
            <a:solidFill>
              <a:srgbClr val="F5C518"/>
            </a:solidFill>
            <a:prstDash val="solid"/>
          </a:ln>
        </p:spPr>
      </p:sp>
      <p:sp>
        <p:nvSpPr>
          <p:cNvPr id="29" name="Text 27"/>
          <p:cNvSpPr/>
          <p:nvPr/>
        </p:nvSpPr>
        <p:spPr>
          <a:xfrm>
            <a:off x="5916168" y="3163824"/>
            <a:ext cx="411480" cy="658368"/>
          </a:xfrm>
          <a:prstGeom prst="rect">
            <a:avLst/>
          </a:prstGeom>
          <a:noFill/>
          <a:ln/>
        </p:spPr>
        <p:txBody>
          <a:bodyPr wrap="square" lIns="0" tIns="0" rIns="0" bIns="0" rtlCol="0" anchor="ctr"/>
          <a:lstStyle/>
          <a:p>
            <a:pPr marL="0" indent="0" algn="ctr">
              <a:buNone/>
            </a:pPr>
            <a:r>
              <a:rPr lang="en-US" sz="1500" dirty="0">
                <a:solidFill>
                  <a:srgbClr val="000000"/>
                </a:solidFill>
                <a:latin typeface="Arial" pitchFamily="34" charset="0"/>
                <a:ea typeface="Arial" pitchFamily="34" charset="-122"/>
                <a:cs typeface="Arial" pitchFamily="34" charset="-120"/>
              </a:rPr>
              <a:t>📈</a:t>
            </a:r>
            <a:endParaRPr lang="en-US" sz="1500" dirty="0"/>
          </a:p>
        </p:txBody>
      </p:sp>
      <p:sp>
        <p:nvSpPr>
          <p:cNvPr id="30" name="Text 28"/>
          <p:cNvSpPr/>
          <p:nvPr/>
        </p:nvSpPr>
        <p:spPr>
          <a:xfrm>
            <a:off x="6355080" y="3218688"/>
            <a:ext cx="2194560" cy="237744"/>
          </a:xfrm>
          <a:prstGeom prst="rect">
            <a:avLst/>
          </a:prstGeom>
          <a:noFill/>
          <a:ln/>
        </p:spPr>
        <p:txBody>
          <a:bodyPr wrap="square" lIns="0" tIns="0" rIns="0" bIns="0" rtlCol="0" anchor="ctr"/>
          <a:lstStyle/>
          <a:p>
            <a:pPr marL="0" indent="0">
              <a:buNone/>
            </a:pPr>
            <a:r>
              <a:rPr lang="en-US" sz="1000" b="1" dirty="0">
                <a:solidFill>
                  <a:srgbClr val="5B2D8E"/>
                </a:solidFill>
                <a:latin typeface="Arial" pitchFamily="34" charset="0"/>
                <a:ea typeface="Arial" pitchFamily="34" charset="-122"/>
                <a:cs typeface="Arial" pitchFamily="34" charset="-120"/>
              </a:rPr>
              <a:t>Measurable Outcome</a:t>
            </a:r>
            <a:endParaRPr lang="en-US" sz="1000" dirty="0"/>
          </a:p>
        </p:txBody>
      </p:sp>
      <p:sp>
        <p:nvSpPr>
          <p:cNvPr id="31" name="Text 29"/>
          <p:cNvSpPr/>
          <p:nvPr/>
        </p:nvSpPr>
        <p:spPr>
          <a:xfrm>
            <a:off x="6355080" y="3493008"/>
            <a:ext cx="2194560" cy="237744"/>
          </a:xfrm>
          <a:prstGeom prst="rect">
            <a:avLst/>
          </a:prstGeom>
          <a:noFill/>
          <a:ln/>
        </p:spPr>
        <p:txBody>
          <a:bodyPr wrap="square" lIns="0" tIns="0" rIns="0" bIns="0" rtlCol="0" anchor="ctr"/>
          <a:lstStyle/>
          <a:p>
            <a:r>
              <a:rPr lang="en-US" sz="1200" dirty="0">
                <a:latin typeface="Times New Roman" panose="02020603050405020304" pitchFamily="18" charset="0"/>
                <a:cs typeface="Times New Roman" panose="02020603050405020304" pitchFamily="18" charset="0"/>
              </a:rPr>
              <a:t>Faster emergency response and improved personal safety</a:t>
            </a:r>
          </a:p>
        </p:txBody>
      </p:sp>
      <p:sp>
        <p:nvSpPr>
          <p:cNvPr id="32" name="Shape 30"/>
          <p:cNvSpPr/>
          <p:nvPr/>
        </p:nvSpPr>
        <p:spPr>
          <a:xfrm>
            <a:off x="5824728" y="3968496"/>
            <a:ext cx="2834640" cy="658368"/>
          </a:xfrm>
          <a:prstGeom prst="rect">
            <a:avLst/>
          </a:prstGeom>
          <a:solidFill>
            <a:srgbClr val="FFFFFF"/>
          </a:solidFill>
          <a:ln w="12700">
            <a:solidFill>
              <a:srgbClr val="D1C4E9"/>
            </a:solidFill>
            <a:prstDash val="solid"/>
          </a:ln>
        </p:spPr>
      </p:sp>
      <p:sp>
        <p:nvSpPr>
          <p:cNvPr id="33" name="Shape 31"/>
          <p:cNvSpPr/>
          <p:nvPr/>
        </p:nvSpPr>
        <p:spPr>
          <a:xfrm>
            <a:off x="5824728" y="3968496"/>
            <a:ext cx="54864" cy="658368"/>
          </a:xfrm>
          <a:prstGeom prst="rect">
            <a:avLst/>
          </a:prstGeom>
          <a:solidFill>
            <a:srgbClr val="F5C518"/>
          </a:solidFill>
          <a:ln w="12700">
            <a:solidFill>
              <a:srgbClr val="F5C518"/>
            </a:solidFill>
            <a:prstDash val="solid"/>
          </a:ln>
        </p:spPr>
      </p:sp>
      <p:sp>
        <p:nvSpPr>
          <p:cNvPr id="34" name="Text 32"/>
          <p:cNvSpPr/>
          <p:nvPr/>
        </p:nvSpPr>
        <p:spPr>
          <a:xfrm>
            <a:off x="5916168" y="3968496"/>
            <a:ext cx="411480" cy="658368"/>
          </a:xfrm>
          <a:prstGeom prst="rect">
            <a:avLst/>
          </a:prstGeom>
          <a:noFill/>
          <a:ln/>
        </p:spPr>
        <p:txBody>
          <a:bodyPr wrap="square" lIns="0" tIns="0" rIns="0" bIns="0" rtlCol="0" anchor="ctr"/>
          <a:lstStyle/>
          <a:p>
            <a:pPr marL="0" indent="0" algn="ctr">
              <a:buNone/>
            </a:pPr>
            <a:r>
              <a:rPr lang="en-US" sz="1500" dirty="0">
                <a:solidFill>
                  <a:srgbClr val="000000"/>
                </a:solidFill>
                <a:latin typeface="Arial" pitchFamily="34" charset="0"/>
                <a:ea typeface="Arial" pitchFamily="34" charset="-122"/>
                <a:cs typeface="Arial" pitchFamily="34" charset="-120"/>
              </a:rPr>
              <a:t>🔁</a:t>
            </a:r>
            <a:endParaRPr lang="en-US" sz="1500" dirty="0"/>
          </a:p>
        </p:txBody>
      </p:sp>
      <p:sp>
        <p:nvSpPr>
          <p:cNvPr id="35" name="Text 33"/>
          <p:cNvSpPr/>
          <p:nvPr/>
        </p:nvSpPr>
        <p:spPr>
          <a:xfrm>
            <a:off x="6355080" y="4023360"/>
            <a:ext cx="2194560" cy="237744"/>
          </a:xfrm>
          <a:prstGeom prst="rect">
            <a:avLst/>
          </a:prstGeom>
          <a:noFill/>
          <a:ln/>
        </p:spPr>
        <p:txBody>
          <a:bodyPr wrap="square" lIns="0" tIns="0" rIns="0" bIns="0" rtlCol="0" anchor="ctr"/>
          <a:lstStyle/>
          <a:p>
            <a:pPr marL="0" indent="0">
              <a:buNone/>
            </a:pPr>
            <a:r>
              <a:rPr lang="en-US" sz="1000" b="1" dirty="0">
                <a:solidFill>
                  <a:srgbClr val="5B2D8E"/>
                </a:solidFill>
                <a:latin typeface="Arial" pitchFamily="34" charset="0"/>
                <a:ea typeface="Arial" pitchFamily="34" charset="-122"/>
                <a:cs typeface="Arial" pitchFamily="34" charset="-120"/>
              </a:rPr>
              <a:t>Next Iteration</a:t>
            </a:r>
            <a:endParaRPr lang="en-US" sz="1000" dirty="0"/>
          </a:p>
        </p:txBody>
      </p:sp>
      <p:sp>
        <p:nvSpPr>
          <p:cNvPr id="36" name="Text 34"/>
          <p:cNvSpPr/>
          <p:nvPr/>
        </p:nvSpPr>
        <p:spPr>
          <a:xfrm>
            <a:off x="6355080" y="4297680"/>
            <a:ext cx="2194560" cy="237744"/>
          </a:xfrm>
          <a:prstGeom prst="rect">
            <a:avLst/>
          </a:prstGeom>
          <a:noFill/>
          <a:ln/>
        </p:spPr>
        <p:txBody>
          <a:bodyPr wrap="square" lIns="0" tIns="0" rIns="0" bIns="0" rtlCol="0" anchor="ctr"/>
          <a:lstStyle/>
          <a:p>
            <a:r>
              <a:rPr lang="en-US" sz="1200" dirty="0">
                <a:latin typeface="Times New Roman" panose="02020603050405020304" pitchFamily="18" charset="0"/>
                <a:cs typeface="Times New Roman" panose="02020603050405020304" pitchFamily="18" charset="0"/>
              </a:rPr>
              <a:t>AI prediction models, wearable integration, and cloud analytics</a:t>
            </a:r>
          </a:p>
        </p:txBody>
      </p:sp>
      <p:sp>
        <p:nvSpPr>
          <p:cNvPr id="37" name="Text 35"/>
          <p:cNvSpPr/>
          <p:nvPr/>
        </p:nvSpPr>
        <p:spPr>
          <a:xfrm>
            <a:off x="8595360" y="4846320"/>
            <a:ext cx="45720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11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49A00"/>
          </a:solidFill>
          <a:ln w="12700">
            <a:solidFill>
              <a:srgbClr val="C49A00"/>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Shape 2"/>
          <p:cNvSpPr/>
          <p:nvPr/>
        </p:nvSpPr>
        <p:spPr>
          <a:xfrm>
            <a:off x="320040" y="256032"/>
            <a:ext cx="1005840" cy="566928"/>
          </a:xfrm>
          <a:prstGeom prst="rect">
            <a:avLst/>
          </a:prstGeom>
          <a:solidFill>
            <a:srgbClr val="C49A00"/>
          </a:solidFill>
          <a:ln w="12700">
            <a:solidFill>
              <a:srgbClr val="C49A00"/>
            </a:solidFill>
            <a:prstDash val="solid"/>
          </a:ln>
        </p:spPr>
      </p:sp>
      <p:sp>
        <p:nvSpPr>
          <p:cNvPr id="5" name="Text 3"/>
          <p:cNvSpPr/>
          <p:nvPr/>
        </p:nvSpPr>
        <p:spPr>
          <a:xfrm>
            <a:off x="320040" y="256032"/>
            <a:ext cx="1005840"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Stage 5</a:t>
            </a:r>
            <a:endParaRPr lang="en-US" sz="900" dirty="0"/>
          </a:p>
        </p:txBody>
      </p:sp>
      <p:sp>
        <p:nvSpPr>
          <p:cNvPr id="6" name="Text 4"/>
          <p:cNvSpPr/>
          <p:nvPr/>
        </p:nvSpPr>
        <p:spPr>
          <a:xfrm>
            <a:off x="1463040" y="274320"/>
            <a:ext cx="7315200" cy="530352"/>
          </a:xfrm>
          <a:prstGeom prst="rect">
            <a:avLst/>
          </a:prstGeom>
          <a:noFill/>
          <a:ln/>
        </p:spPr>
        <p:txBody>
          <a:bodyPr wrap="square" lIns="0" tIns="0" rIns="0" bIns="0" rtlCol="0" anchor="ctr"/>
          <a:lstStyle/>
          <a:p>
            <a:pPr marL="0" indent="0" algn="l">
              <a:buNone/>
            </a:pPr>
            <a:r>
              <a:rPr lang="en-US" sz="2600" b="1" dirty="0">
                <a:solidFill>
                  <a:srgbClr val="5B2D8E"/>
                </a:solidFill>
                <a:latin typeface="Arial" pitchFamily="34" charset="0"/>
                <a:ea typeface="Arial" pitchFamily="34" charset="-122"/>
                <a:cs typeface="Arial" pitchFamily="34" charset="-120"/>
              </a:rPr>
              <a:t>Test</a:t>
            </a:r>
            <a:endParaRPr lang="en-US" sz="2600" dirty="0"/>
          </a:p>
        </p:txBody>
      </p:sp>
      <p:sp>
        <p:nvSpPr>
          <p:cNvPr id="7" name="Shape 5"/>
          <p:cNvSpPr/>
          <p:nvPr/>
        </p:nvSpPr>
        <p:spPr>
          <a:xfrm>
            <a:off x="320040" y="914400"/>
            <a:ext cx="1572768" cy="274320"/>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sp>
      <p:sp>
        <p:nvSpPr>
          <p:cNvPr id="8" name="Text 6"/>
          <p:cNvSpPr/>
          <p:nvPr/>
        </p:nvSpPr>
        <p:spPr>
          <a:xfrm>
            <a:off x="320040" y="914400"/>
            <a:ext cx="1572768" cy="274320"/>
          </a:xfrm>
          <a:prstGeom prst="rect">
            <a:avLst/>
          </a:prstGeom>
          <a:noFill/>
          <a:ln/>
        </p:spPr>
        <p:txBody>
          <a:bodyPr wrap="square" lIns="0" tIns="0" rIns="0" bIns="0" rtlCol="0" anchor="ctr"/>
          <a:lstStyle/>
          <a:p>
            <a:pPr marL="0" indent="0" algn="ctr">
              <a:buNone/>
            </a:pPr>
            <a:r>
              <a:rPr lang="en-US" sz="900" dirty="0">
                <a:solidFill>
                  <a:srgbClr val="5B2D8E"/>
                </a:solidFill>
                <a:latin typeface="Arial" pitchFamily="34" charset="0"/>
                <a:ea typeface="Arial" pitchFamily="34" charset="-122"/>
                <a:cs typeface="Arial" pitchFamily="34" charset="-120"/>
              </a:rPr>
              <a:t>Empathize</a:t>
            </a:r>
            <a:endParaRPr lang="en-US" sz="900" dirty="0"/>
          </a:p>
        </p:txBody>
      </p:sp>
      <p:sp>
        <p:nvSpPr>
          <p:cNvPr id="9" name="Shape 7"/>
          <p:cNvSpPr/>
          <p:nvPr/>
        </p:nvSpPr>
        <p:spPr>
          <a:xfrm>
            <a:off x="2039112" y="914400"/>
            <a:ext cx="1572768" cy="274320"/>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sp>
      <p:sp>
        <p:nvSpPr>
          <p:cNvPr id="10" name="Text 8"/>
          <p:cNvSpPr/>
          <p:nvPr/>
        </p:nvSpPr>
        <p:spPr>
          <a:xfrm>
            <a:off x="2039112" y="914400"/>
            <a:ext cx="1572768" cy="274320"/>
          </a:xfrm>
          <a:prstGeom prst="rect">
            <a:avLst/>
          </a:prstGeom>
          <a:noFill/>
          <a:ln/>
        </p:spPr>
        <p:txBody>
          <a:bodyPr wrap="square" lIns="0" tIns="0" rIns="0" bIns="0" rtlCol="0" anchor="ctr"/>
          <a:lstStyle/>
          <a:p>
            <a:pPr marL="0" indent="0" algn="ctr">
              <a:buNone/>
            </a:pPr>
            <a:r>
              <a:rPr lang="en-US" sz="900" dirty="0">
                <a:solidFill>
                  <a:srgbClr val="5B2D8E"/>
                </a:solidFill>
                <a:latin typeface="Arial" pitchFamily="34" charset="0"/>
                <a:ea typeface="Arial" pitchFamily="34" charset="-122"/>
                <a:cs typeface="Arial" pitchFamily="34" charset="-120"/>
              </a:rPr>
              <a:t>Define</a:t>
            </a:r>
            <a:endParaRPr lang="en-US" sz="900" dirty="0"/>
          </a:p>
        </p:txBody>
      </p:sp>
      <p:sp>
        <p:nvSpPr>
          <p:cNvPr id="11" name="Shape 9"/>
          <p:cNvSpPr/>
          <p:nvPr/>
        </p:nvSpPr>
        <p:spPr>
          <a:xfrm>
            <a:off x="3758184" y="914400"/>
            <a:ext cx="1572768" cy="274320"/>
          </a:xfrm>
          <a:prstGeom prst="rect">
            <a:avLst/>
          </a:prstGeom>
          <a:solidFill>
            <a:srgbClr val="F5C518"/>
          </a:solidFill>
          <a:ln w="12700">
            <a:solidFill>
              <a:srgbClr val="F5C518"/>
            </a:solidFill>
            <a:prstDash val="solid"/>
          </a:ln>
        </p:spPr>
      </p:sp>
      <p:sp>
        <p:nvSpPr>
          <p:cNvPr id="12" name="Text 10"/>
          <p:cNvSpPr/>
          <p:nvPr/>
        </p:nvSpPr>
        <p:spPr>
          <a:xfrm>
            <a:off x="3758184" y="914400"/>
            <a:ext cx="1572768" cy="274320"/>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txBody>
          <a:bodyPr wrap="square" lIns="0" tIns="0" rIns="0" bIns="0" rtlCol="0" anchor="ctr"/>
          <a:lstStyle/>
          <a:p>
            <a:pPr marL="0" indent="0" algn="ctr">
              <a:buNone/>
            </a:pPr>
            <a:r>
              <a:rPr lang="en-US" sz="900" dirty="0">
                <a:solidFill>
                  <a:srgbClr val="5B2D8E"/>
                </a:solidFill>
                <a:latin typeface="Arial" pitchFamily="34" charset="0"/>
                <a:ea typeface="Arial" pitchFamily="34" charset="-122"/>
                <a:cs typeface="Arial" pitchFamily="34" charset="-120"/>
              </a:rPr>
              <a:t>Ideate</a:t>
            </a:r>
            <a:endParaRPr lang="en-US" sz="900" dirty="0"/>
          </a:p>
        </p:txBody>
      </p:sp>
      <p:sp>
        <p:nvSpPr>
          <p:cNvPr id="13" name="Shape 11"/>
          <p:cNvSpPr/>
          <p:nvPr/>
        </p:nvSpPr>
        <p:spPr>
          <a:xfrm>
            <a:off x="5477256" y="914400"/>
            <a:ext cx="1572768" cy="274320"/>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sp>
      <p:sp>
        <p:nvSpPr>
          <p:cNvPr id="14" name="Text 12"/>
          <p:cNvSpPr/>
          <p:nvPr/>
        </p:nvSpPr>
        <p:spPr>
          <a:xfrm>
            <a:off x="5477256" y="914400"/>
            <a:ext cx="1572768" cy="274320"/>
          </a:xfrm>
          <a:prstGeom prst="rect">
            <a:avLst/>
          </a:prstGeom>
          <a:noFill/>
          <a:ln/>
        </p:spPr>
        <p:txBody>
          <a:bodyPr wrap="square" lIns="0" tIns="0" rIns="0" bIns="0" rtlCol="0" anchor="ctr"/>
          <a:lstStyle/>
          <a:p>
            <a:pPr marL="0" indent="0" algn="ctr">
              <a:buNone/>
            </a:pPr>
            <a:r>
              <a:rPr lang="en-US" sz="900" dirty="0">
                <a:solidFill>
                  <a:srgbClr val="5B2D8E"/>
                </a:solidFill>
                <a:latin typeface="Arial" pitchFamily="34" charset="0"/>
                <a:ea typeface="Arial" pitchFamily="34" charset="-122"/>
                <a:cs typeface="Arial" pitchFamily="34" charset="-120"/>
              </a:rPr>
              <a:t>Prototype</a:t>
            </a:r>
            <a:endParaRPr lang="en-US" sz="900" dirty="0"/>
          </a:p>
        </p:txBody>
      </p:sp>
      <p:sp>
        <p:nvSpPr>
          <p:cNvPr id="15" name="Shape 13"/>
          <p:cNvSpPr/>
          <p:nvPr/>
        </p:nvSpPr>
        <p:spPr>
          <a:xfrm>
            <a:off x="7196328" y="914400"/>
            <a:ext cx="1572768" cy="274320"/>
          </a:xfrm>
          <a:prstGeom prst="rect">
            <a:avLst/>
          </a:prstGeom>
          <a:solidFill>
            <a:srgbClr val="5B2D8E"/>
          </a:solidFill>
          <a:ln w="12700">
            <a:solidFill>
              <a:srgbClr val="5B2D8E"/>
            </a:solidFill>
            <a:prstDash val="solid"/>
          </a:ln>
        </p:spPr>
      </p:sp>
      <p:sp>
        <p:nvSpPr>
          <p:cNvPr id="16" name="Text 14"/>
          <p:cNvSpPr/>
          <p:nvPr/>
        </p:nvSpPr>
        <p:spPr>
          <a:xfrm>
            <a:off x="7196328" y="914400"/>
            <a:ext cx="15727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Test</a:t>
            </a:r>
            <a:endParaRPr lang="en-US" sz="900" dirty="0"/>
          </a:p>
        </p:txBody>
      </p:sp>
      <p:sp>
        <p:nvSpPr>
          <p:cNvPr id="17" name="Shape 15"/>
          <p:cNvSpPr/>
          <p:nvPr/>
        </p:nvSpPr>
        <p:spPr>
          <a:xfrm>
            <a:off x="320040" y="1325880"/>
            <a:ext cx="2743200" cy="3520440"/>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18" name="Shape 16"/>
          <p:cNvSpPr/>
          <p:nvPr/>
        </p:nvSpPr>
        <p:spPr>
          <a:xfrm>
            <a:off x="320040" y="1325880"/>
            <a:ext cx="2743200" cy="411480"/>
          </a:xfrm>
          <a:prstGeom prst="rect">
            <a:avLst/>
          </a:prstGeom>
          <a:solidFill>
            <a:srgbClr val="C49A00"/>
          </a:solidFill>
          <a:ln w="12700">
            <a:solidFill>
              <a:srgbClr val="C49A00"/>
            </a:solidFill>
            <a:prstDash val="solid"/>
          </a:ln>
        </p:spPr>
      </p:sp>
      <p:sp>
        <p:nvSpPr>
          <p:cNvPr id="19" name="Text 17"/>
          <p:cNvSpPr/>
          <p:nvPr/>
        </p:nvSpPr>
        <p:spPr>
          <a:xfrm>
            <a:off x="457200" y="1325880"/>
            <a:ext cx="246888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What We Did</a:t>
            </a:r>
            <a:endParaRPr lang="en-US" sz="1200" dirty="0"/>
          </a:p>
        </p:txBody>
      </p:sp>
      <p:sp>
        <p:nvSpPr>
          <p:cNvPr id="20" name="Text 18"/>
          <p:cNvSpPr/>
          <p:nvPr/>
        </p:nvSpPr>
        <p:spPr>
          <a:xfrm>
            <a:off x="365760" y="1810512"/>
            <a:ext cx="2651760" cy="3223260"/>
          </a:xfrm>
          <a:prstGeom prst="rect">
            <a:avLst/>
          </a:prstGeom>
          <a:noFill/>
          <a:ln/>
        </p:spPr>
        <p:txBody>
          <a:bodyPr wrap="square" lIns="0" tIns="0" rIns="0" bIns="0" rtlCol="0" anchor="t"/>
          <a:lstStyle/>
          <a:p>
            <a:pPr algn="just"/>
            <a:r>
              <a:rPr lang="en-US" sz="1300" dirty="0">
                <a:latin typeface="Times New Roman" panose="02020603050405020304" pitchFamily="18" charset="0"/>
                <a:cs typeface="Times New Roman" panose="02020603050405020304" pitchFamily="18" charset="0"/>
              </a:rPr>
              <a:t>We tested the GEOSHIELD prototype with students and mobile users to evaluate usability, emergency response flow, and alert functionality. Users were asked to perform tasks such as triggering the SOS button, adding emergency contacts, and navigating through the auto-detection features.</a:t>
            </a:r>
          </a:p>
          <a:p>
            <a:pPr algn="just"/>
            <a:endParaRPr lang="en-US" sz="1300" dirty="0">
              <a:latin typeface="Times New Roman" panose="02020603050405020304" pitchFamily="18" charset="0"/>
              <a:cs typeface="Times New Roman" panose="02020603050405020304" pitchFamily="18" charset="0"/>
            </a:endParaRPr>
          </a:p>
          <a:p>
            <a:pPr algn="just"/>
            <a:r>
              <a:rPr lang="en-US" sz="1300" dirty="0">
                <a:latin typeface="Times New Roman" panose="02020603050405020304" pitchFamily="18" charset="0"/>
                <a:cs typeface="Times New Roman" panose="02020603050405020304" pitchFamily="18" charset="0"/>
              </a:rPr>
              <a:t>Feedback was collected through direct observation, user interaction analysis, and verbal suggestions to identify usability improvements and feature effectiveness.</a:t>
            </a:r>
          </a:p>
        </p:txBody>
      </p:sp>
      <p:sp>
        <p:nvSpPr>
          <p:cNvPr id="21" name="Shape 19"/>
          <p:cNvSpPr/>
          <p:nvPr/>
        </p:nvSpPr>
        <p:spPr>
          <a:xfrm>
            <a:off x="3246120" y="1325880"/>
            <a:ext cx="2743200" cy="3520440"/>
          </a:xfrm>
          <a:prstGeom prst="rect">
            <a:avLst/>
          </a:prstGeom>
          <a:solidFill>
            <a:srgbClr val="F5F5F5"/>
          </a:solidFill>
          <a:ln w="12700">
            <a:solidFill>
              <a:srgbClr val="D1C4E9"/>
            </a:solidFill>
            <a:prstDash val="solid"/>
          </a:ln>
          <a:effectLst>
            <a:outerShdw blurRad="76200" dist="25400" dir="8100000" algn="bl" rotWithShape="0">
              <a:srgbClr val="000000">
                <a:alpha val="10000"/>
              </a:srgbClr>
            </a:outerShdw>
          </a:effectLst>
        </p:spPr>
        <p:txBody>
          <a:bodyPr/>
          <a:lstStyle/>
          <a:p>
            <a:endParaRPr lang="en-IN" dirty="0"/>
          </a:p>
        </p:txBody>
      </p:sp>
      <p:sp>
        <p:nvSpPr>
          <p:cNvPr id="22" name="Shape 20"/>
          <p:cNvSpPr/>
          <p:nvPr/>
        </p:nvSpPr>
        <p:spPr>
          <a:xfrm>
            <a:off x="3246120" y="1325880"/>
            <a:ext cx="2743200" cy="411480"/>
          </a:xfrm>
          <a:prstGeom prst="rect">
            <a:avLst/>
          </a:prstGeom>
          <a:solidFill>
            <a:srgbClr val="5B2D8E"/>
          </a:solidFill>
          <a:ln w="12700">
            <a:solidFill>
              <a:srgbClr val="5B2D8E"/>
            </a:solidFill>
            <a:prstDash val="solid"/>
          </a:ln>
        </p:spPr>
      </p:sp>
      <p:sp>
        <p:nvSpPr>
          <p:cNvPr id="23" name="Text 21"/>
          <p:cNvSpPr/>
          <p:nvPr/>
        </p:nvSpPr>
        <p:spPr>
          <a:xfrm>
            <a:off x="3383280" y="1325880"/>
            <a:ext cx="246888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Methods &amp; Tools</a:t>
            </a:r>
            <a:endParaRPr lang="en-US" sz="1200" dirty="0"/>
          </a:p>
        </p:txBody>
      </p:sp>
      <p:sp>
        <p:nvSpPr>
          <p:cNvPr id="24" name="Text 22"/>
          <p:cNvSpPr/>
          <p:nvPr/>
        </p:nvSpPr>
        <p:spPr>
          <a:xfrm>
            <a:off x="3383280" y="1810512"/>
            <a:ext cx="2468880" cy="2926080"/>
          </a:xfrm>
          <a:prstGeom prst="rect">
            <a:avLst/>
          </a:prstGeom>
          <a:noFill/>
          <a:ln/>
        </p:spPr>
        <p:txBody>
          <a:bodyPr wrap="square" rtlCol="0" anchor="t"/>
          <a:lstStyle/>
          <a:p>
            <a:pPr marL="342900" indent="-342900">
              <a:buSzPct val="100000"/>
              <a:buFont typeface="Wingdings" panose="05000000000000000000" pitchFamily="2" charset="2"/>
              <a:buChar char="ü"/>
            </a:pPr>
            <a:r>
              <a:rPr lang="en-US" sz="1400" dirty="0">
                <a:solidFill>
                  <a:srgbClr val="333333"/>
                </a:solidFill>
                <a:latin typeface="Times New Roman" panose="02020603050405020304" pitchFamily="18" charset="0"/>
                <a:ea typeface="Arial" pitchFamily="34" charset="-122"/>
                <a:cs typeface="Times New Roman" panose="02020603050405020304" pitchFamily="18" charset="0"/>
              </a:rPr>
              <a:t>Usability Testing Sessions</a:t>
            </a:r>
            <a:endParaRPr lang="en-US" sz="1400"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ü"/>
            </a:pPr>
            <a:r>
              <a:rPr lang="en-US" sz="1400" dirty="0">
                <a:solidFill>
                  <a:srgbClr val="333333"/>
                </a:solidFill>
                <a:latin typeface="Times New Roman" panose="02020603050405020304" pitchFamily="18" charset="0"/>
                <a:ea typeface="Arial" pitchFamily="34" charset="-122"/>
                <a:cs typeface="Times New Roman" panose="02020603050405020304" pitchFamily="18" charset="0"/>
              </a:rPr>
              <a:t>Feedback Capture Grid</a:t>
            </a:r>
            <a:endParaRPr lang="en-US" sz="1400"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ü"/>
            </a:pPr>
            <a:r>
              <a:rPr lang="en-US" sz="1400" dirty="0">
                <a:solidFill>
                  <a:srgbClr val="333333"/>
                </a:solidFill>
                <a:latin typeface="Times New Roman" panose="02020603050405020304" pitchFamily="18" charset="0"/>
                <a:ea typeface="Arial" pitchFamily="34" charset="-122"/>
                <a:cs typeface="Times New Roman" panose="02020603050405020304" pitchFamily="18" charset="0"/>
              </a:rPr>
              <a:t>Expert Review / Heuristic Evaluation</a:t>
            </a:r>
            <a:endParaRPr lang="en-US" sz="1400" dirty="0">
              <a:latin typeface="Times New Roman" panose="02020603050405020304" pitchFamily="18" charset="0"/>
              <a:cs typeface="Times New Roman" panose="02020603050405020304" pitchFamily="18" charset="0"/>
            </a:endParaRPr>
          </a:p>
        </p:txBody>
      </p:sp>
      <p:sp>
        <p:nvSpPr>
          <p:cNvPr id="25" name="Shape 23"/>
          <p:cNvSpPr/>
          <p:nvPr/>
        </p:nvSpPr>
        <p:spPr>
          <a:xfrm>
            <a:off x="6172200" y="1325880"/>
            <a:ext cx="2651760" cy="3520440"/>
          </a:xfrm>
          <a:prstGeom prst="rect">
            <a:avLst/>
          </a:prstGeom>
          <a:solidFill>
            <a:srgbClr val="FFFDE7"/>
          </a:solidFill>
          <a:ln w="12700">
            <a:solidFill>
              <a:srgbClr val="F5C518"/>
            </a:solidFill>
            <a:prstDash val="solid"/>
          </a:ln>
          <a:effectLst>
            <a:outerShdw blurRad="76200" dist="25400" dir="8100000" algn="bl" rotWithShape="0">
              <a:srgbClr val="000000">
                <a:alpha val="10000"/>
              </a:srgbClr>
            </a:outerShdw>
          </a:effectLst>
        </p:spPr>
      </p:sp>
      <p:sp>
        <p:nvSpPr>
          <p:cNvPr id="26" name="Shape 24"/>
          <p:cNvSpPr/>
          <p:nvPr/>
        </p:nvSpPr>
        <p:spPr>
          <a:xfrm>
            <a:off x="6172200" y="1325880"/>
            <a:ext cx="2651760" cy="411480"/>
          </a:xfrm>
          <a:prstGeom prst="rect">
            <a:avLst/>
          </a:prstGeom>
          <a:solidFill>
            <a:srgbClr val="F5C518"/>
          </a:solidFill>
          <a:ln w="12700">
            <a:solidFill>
              <a:srgbClr val="F5C518"/>
            </a:solidFill>
            <a:prstDash val="solid"/>
          </a:ln>
        </p:spPr>
      </p:sp>
      <p:sp>
        <p:nvSpPr>
          <p:cNvPr id="27" name="Text 25"/>
          <p:cNvSpPr/>
          <p:nvPr/>
        </p:nvSpPr>
        <p:spPr>
          <a:xfrm>
            <a:off x="6309360" y="1325880"/>
            <a:ext cx="2377440" cy="411480"/>
          </a:xfrm>
          <a:prstGeom prst="rect">
            <a:avLst/>
          </a:prstGeom>
          <a:noFill/>
          <a:ln/>
        </p:spPr>
        <p:txBody>
          <a:bodyPr wrap="square" lIns="0" tIns="0" rIns="0" bIns="0" rtlCol="0" anchor="ctr"/>
          <a:lstStyle/>
          <a:p>
            <a:pPr marL="0" indent="0">
              <a:buNone/>
            </a:pPr>
            <a:r>
              <a:rPr lang="en-US" sz="1200" b="1" dirty="0">
                <a:solidFill>
                  <a:srgbClr val="5B2D8E"/>
                </a:solidFill>
                <a:latin typeface="Arial" pitchFamily="34" charset="0"/>
                <a:ea typeface="Arial" pitchFamily="34" charset="-122"/>
                <a:cs typeface="Arial" pitchFamily="34" charset="-120"/>
              </a:rPr>
              <a:t>✅ Key Takeaway</a:t>
            </a:r>
            <a:endParaRPr lang="en-US" sz="1200" dirty="0"/>
          </a:p>
        </p:txBody>
      </p:sp>
      <p:sp>
        <p:nvSpPr>
          <p:cNvPr id="28" name="Text 26"/>
          <p:cNvSpPr/>
          <p:nvPr/>
        </p:nvSpPr>
        <p:spPr>
          <a:xfrm>
            <a:off x="6309360" y="1810512"/>
            <a:ext cx="2377440" cy="2926080"/>
          </a:xfrm>
          <a:prstGeom prst="rect">
            <a:avLst/>
          </a:prstGeom>
          <a:noFill/>
          <a:ln/>
        </p:spPr>
        <p:txBody>
          <a:bodyPr wrap="square" lIns="0" tIns="0" rIns="0" bIns="0" rtlCol="0" anchor="t"/>
          <a:lstStyle/>
          <a:p>
            <a:r>
              <a:rPr lang="en-US" sz="1400" b="1" dirty="0">
                <a:solidFill>
                  <a:srgbClr val="333333"/>
                </a:solidFill>
                <a:latin typeface="Times New Roman" panose="02020603050405020304" pitchFamily="18" charset="0"/>
                <a:ea typeface="Arial" pitchFamily="34" charset="-122"/>
                <a:cs typeface="Times New Roman" panose="02020603050405020304" pitchFamily="18" charset="0"/>
              </a:rPr>
              <a:t>Users tested</a:t>
            </a:r>
            <a:r>
              <a:rPr lang="en-US" sz="1400" i="1" dirty="0">
                <a:solidFill>
                  <a:srgbClr val="333333"/>
                </a:solidFill>
                <a:latin typeface="Times New Roman" panose="02020603050405020304" pitchFamily="18" charset="0"/>
                <a:ea typeface="Arial" pitchFamily="34" charset="-122"/>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12 Users</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solidFill>
                  <a:srgbClr val="333333"/>
                </a:solidFill>
                <a:latin typeface="Times New Roman" panose="02020603050405020304" pitchFamily="18" charset="0"/>
                <a:ea typeface="Arial" pitchFamily="34" charset="-122"/>
                <a:cs typeface="Times New Roman" panose="02020603050405020304" pitchFamily="18" charset="0"/>
              </a:rPr>
              <a:t>What worked well</a:t>
            </a:r>
            <a:r>
              <a:rPr lang="en-US" sz="1400" i="1" dirty="0">
                <a:solidFill>
                  <a:srgbClr val="333333"/>
                </a:solidFill>
                <a:latin typeface="Times New Roman" panose="02020603050405020304" pitchFamily="18" charset="0"/>
                <a:ea typeface="Arial"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Fast SOS emergency triggering</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Easy-to-use and attractive interface</a:t>
            </a:r>
          </a:p>
          <a:p>
            <a:pPr marL="0" indent="0">
              <a:buNone/>
            </a:pPr>
            <a:r>
              <a:rPr lang="en-US" sz="1400" i="1" dirty="0">
                <a:solidFill>
                  <a:srgbClr val="333333"/>
                </a:solidFill>
                <a:latin typeface="Times New Roman" panose="02020603050405020304" pitchFamily="18" charset="0"/>
                <a:ea typeface="Arial" pitchFamily="34" charset="-122"/>
                <a:cs typeface="Times New Roman" panose="02020603050405020304" pitchFamily="18" charset="0"/>
              </a:rPr>
              <a:t>What needed improvement:</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Background battery optimization and alert response timing</a:t>
            </a:r>
          </a:p>
          <a:p>
            <a:r>
              <a:rPr lang="en-US" sz="1400" b="1" dirty="0">
                <a:solidFill>
                  <a:srgbClr val="333333"/>
                </a:solidFill>
                <a:latin typeface="Times New Roman" panose="02020603050405020304" pitchFamily="18" charset="0"/>
                <a:ea typeface="Arial" pitchFamily="34" charset="-122"/>
                <a:cs typeface="Times New Roman" panose="02020603050405020304" pitchFamily="18" charset="0"/>
              </a:rPr>
              <a:t>Changes made after testing:</a:t>
            </a:r>
          </a:p>
          <a:p>
            <a:pPr algn="just"/>
            <a:r>
              <a:rPr lang="en-US" sz="1400" dirty="0">
                <a:latin typeface="Times New Roman" panose="02020603050405020304" pitchFamily="18" charset="0"/>
                <a:cs typeface="Times New Roman" panose="02020603050405020304" pitchFamily="18" charset="0"/>
              </a:rPr>
              <a:t>→ Improved UI navigation, optimized emergency workflow, and refined alert handling system</a:t>
            </a:r>
          </a:p>
        </p:txBody>
      </p:sp>
      <p:sp>
        <p:nvSpPr>
          <p:cNvPr id="29" name="Text 27"/>
          <p:cNvSpPr/>
          <p:nvPr/>
        </p:nvSpPr>
        <p:spPr>
          <a:xfrm>
            <a:off x="8686800" y="4846320"/>
            <a:ext cx="36576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B2D8E"/>
          </a:solidFill>
          <a:ln w="12700">
            <a:solidFill>
              <a:srgbClr val="5B2D8E"/>
            </a:solidFill>
            <a:prstDash val="solid"/>
          </a:ln>
        </p:spPr>
      </p:sp>
      <p:sp>
        <p:nvSpPr>
          <p:cNvPr id="3" name="Shape 1"/>
          <p:cNvSpPr/>
          <p:nvPr/>
        </p:nvSpPr>
        <p:spPr>
          <a:xfrm>
            <a:off x="0" y="109728"/>
            <a:ext cx="9144000" cy="64008"/>
          </a:xfrm>
          <a:prstGeom prst="rect">
            <a:avLst/>
          </a:prstGeom>
          <a:solidFill>
            <a:srgbClr val="F5C518"/>
          </a:solidFill>
          <a:ln w="12700">
            <a:solidFill>
              <a:srgbClr val="F5C518"/>
            </a:solidFill>
            <a:prstDash val="solid"/>
          </a:ln>
        </p:spPr>
      </p:sp>
      <p:sp>
        <p:nvSpPr>
          <p:cNvPr id="4" name="Text 2"/>
          <p:cNvSpPr/>
          <p:nvPr/>
        </p:nvSpPr>
        <p:spPr>
          <a:xfrm>
            <a:off x="365760" y="237744"/>
            <a:ext cx="8412480" cy="594360"/>
          </a:xfrm>
          <a:prstGeom prst="rect">
            <a:avLst/>
          </a:prstGeom>
          <a:noFill/>
          <a:ln/>
        </p:spPr>
        <p:txBody>
          <a:bodyPr wrap="square" lIns="0" tIns="0" rIns="0" bIns="0" rtlCol="0" anchor="ctr"/>
          <a:lstStyle/>
          <a:p>
            <a:pPr marL="0" indent="0" algn="l">
              <a:buNone/>
            </a:pPr>
            <a:r>
              <a:rPr lang="en-US" sz="2400" b="1" dirty="0">
                <a:solidFill>
                  <a:srgbClr val="5B2D8E"/>
                </a:solidFill>
                <a:latin typeface="Arial" pitchFamily="34" charset="0"/>
                <a:ea typeface="Arial" pitchFamily="34" charset="-122"/>
                <a:cs typeface="Arial" pitchFamily="34" charset="-120"/>
              </a:rPr>
              <a:t>Testing &amp; Validation  ·  Reflections &amp; Learnings</a:t>
            </a:r>
            <a:endParaRPr lang="en-US" sz="2400" dirty="0"/>
          </a:p>
        </p:txBody>
      </p:sp>
      <p:sp>
        <p:nvSpPr>
          <p:cNvPr id="5" name="Shape 3"/>
          <p:cNvSpPr/>
          <p:nvPr/>
        </p:nvSpPr>
        <p:spPr>
          <a:xfrm>
            <a:off x="365760" y="850392"/>
            <a:ext cx="8412480" cy="27432"/>
          </a:xfrm>
          <a:prstGeom prst="rect">
            <a:avLst/>
          </a:prstGeom>
          <a:solidFill>
            <a:srgbClr val="D1C4E9"/>
          </a:solidFill>
          <a:ln w="12700">
            <a:solidFill>
              <a:srgbClr val="D1C4E9"/>
            </a:solidFill>
            <a:prstDash val="solid"/>
          </a:ln>
        </p:spPr>
      </p:sp>
      <p:sp>
        <p:nvSpPr>
          <p:cNvPr id="6" name="Shape 4"/>
          <p:cNvSpPr/>
          <p:nvPr/>
        </p:nvSpPr>
        <p:spPr>
          <a:xfrm>
            <a:off x="320040" y="987552"/>
            <a:ext cx="2743200" cy="960120"/>
          </a:xfrm>
          <a:prstGeom prst="rect">
            <a:avLst/>
          </a:prstGeom>
          <a:solidFill>
            <a:srgbClr val="5B2D8E"/>
          </a:solidFill>
          <a:ln w="12700">
            <a:solidFill>
              <a:srgbClr val="5B2D8E"/>
            </a:solidFill>
            <a:prstDash val="solid"/>
          </a:ln>
          <a:effectLst>
            <a:outerShdw blurRad="76200" dist="25400" dir="8100000" algn="bl" rotWithShape="0">
              <a:srgbClr val="000000">
                <a:alpha val="10000"/>
              </a:srgbClr>
            </a:outerShdw>
          </a:effectLst>
        </p:spPr>
      </p:sp>
      <p:sp>
        <p:nvSpPr>
          <p:cNvPr id="7" name="Shape 5"/>
          <p:cNvSpPr/>
          <p:nvPr/>
        </p:nvSpPr>
        <p:spPr>
          <a:xfrm>
            <a:off x="320040" y="987552"/>
            <a:ext cx="2743200" cy="54864"/>
          </a:xfrm>
          <a:prstGeom prst="rect">
            <a:avLst/>
          </a:prstGeom>
          <a:solidFill>
            <a:srgbClr val="F5C518"/>
          </a:solidFill>
          <a:ln w="12700">
            <a:solidFill>
              <a:srgbClr val="F5C518"/>
            </a:solidFill>
            <a:prstDash val="solid"/>
          </a:ln>
        </p:spPr>
      </p:sp>
      <p:sp>
        <p:nvSpPr>
          <p:cNvPr id="8" name="Text 6"/>
          <p:cNvSpPr/>
          <p:nvPr/>
        </p:nvSpPr>
        <p:spPr>
          <a:xfrm>
            <a:off x="320040" y="1005840"/>
            <a:ext cx="274320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9" name="Text 7"/>
          <p:cNvSpPr/>
          <p:nvPr/>
        </p:nvSpPr>
        <p:spPr>
          <a:xfrm>
            <a:off x="320040" y="1572768"/>
            <a:ext cx="2743200" cy="32004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Users Tested</a:t>
            </a:r>
            <a:endParaRPr lang="en-US" sz="1100" dirty="0"/>
          </a:p>
        </p:txBody>
      </p:sp>
      <p:sp>
        <p:nvSpPr>
          <p:cNvPr id="10" name="Shape 8"/>
          <p:cNvSpPr/>
          <p:nvPr/>
        </p:nvSpPr>
        <p:spPr>
          <a:xfrm>
            <a:off x="3172968" y="987552"/>
            <a:ext cx="2743200" cy="960120"/>
          </a:xfrm>
          <a:prstGeom prst="rect">
            <a:avLst/>
          </a:prstGeom>
          <a:solidFill>
            <a:srgbClr val="7B4DB5"/>
          </a:solidFill>
          <a:ln w="12700">
            <a:solidFill>
              <a:srgbClr val="7B4DB5"/>
            </a:solidFill>
            <a:prstDash val="solid"/>
          </a:ln>
          <a:effectLst>
            <a:outerShdw blurRad="76200" dist="25400" dir="8100000" algn="bl" rotWithShape="0">
              <a:srgbClr val="000000">
                <a:alpha val="10000"/>
              </a:srgbClr>
            </a:outerShdw>
          </a:effectLst>
        </p:spPr>
      </p:sp>
      <p:sp>
        <p:nvSpPr>
          <p:cNvPr id="11" name="Shape 9"/>
          <p:cNvSpPr/>
          <p:nvPr/>
        </p:nvSpPr>
        <p:spPr>
          <a:xfrm>
            <a:off x="3172968" y="987552"/>
            <a:ext cx="2743200" cy="54864"/>
          </a:xfrm>
          <a:prstGeom prst="rect">
            <a:avLst/>
          </a:prstGeom>
          <a:solidFill>
            <a:srgbClr val="F5C518"/>
          </a:solidFill>
          <a:ln w="12700">
            <a:solidFill>
              <a:srgbClr val="F5C518"/>
            </a:solidFill>
            <a:prstDash val="solid"/>
          </a:ln>
        </p:spPr>
      </p:sp>
      <p:sp>
        <p:nvSpPr>
          <p:cNvPr id="12" name="Text 10"/>
          <p:cNvSpPr/>
          <p:nvPr/>
        </p:nvSpPr>
        <p:spPr>
          <a:xfrm>
            <a:off x="3172968" y="1005840"/>
            <a:ext cx="274320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13" name="Text 11"/>
          <p:cNvSpPr/>
          <p:nvPr/>
        </p:nvSpPr>
        <p:spPr>
          <a:xfrm>
            <a:off x="3172968" y="1572768"/>
            <a:ext cx="2743200" cy="32004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Feedback Rounds</a:t>
            </a:r>
            <a:endParaRPr lang="en-US" sz="1100" dirty="0"/>
          </a:p>
        </p:txBody>
      </p:sp>
      <p:sp>
        <p:nvSpPr>
          <p:cNvPr id="14" name="Shape 12"/>
          <p:cNvSpPr/>
          <p:nvPr/>
        </p:nvSpPr>
        <p:spPr>
          <a:xfrm>
            <a:off x="6025896" y="987552"/>
            <a:ext cx="2743200" cy="960120"/>
          </a:xfrm>
          <a:prstGeom prst="rect">
            <a:avLst/>
          </a:prstGeom>
          <a:solidFill>
            <a:srgbClr val="9C6FCC"/>
          </a:solidFill>
          <a:ln w="12700">
            <a:solidFill>
              <a:srgbClr val="9C6FCC"/>
            </a:solidFill>
            <a:prstDash val="solid"/>
          </a:ln>
          <a:effectLst>
            <a:outerShdw blurRad="76200" dist="25400" dir="8100000" algn="bl" rotWithShape="0">
              <a:srgbClr val="000000">
                <a:alpha val="10000"/>
              </a:srgbClr>
            </a:outerShdw>
          </a:effectLst>
        </p:spPr>
      </p:sp>
      <p:sp>
        <p:nvSpPr>
          <p:cNvPr id="15" name="Shape 13"/>
          <p:cNvSpPr/>
          <p:nvPr/>
        </p:nvSpPr>
        <p:spPr>
          <a:xfrm>
            <a:off x="6025896" y="987552"/>
            <a:ext cx="2743200" cy="54864"/>
          </a:xfrm>
          <a:prstGeom prst="rect">
            <a:avLst/>
          </a:prstGeom>
          <a:solidFill>
            <a:srgbClr val="F5C518"/>
          </a:solidFill>
          <a:ln w="12700">
            <a:solidFill>
              <a:srgbClr val="F5C518"/>
            </a:solidFill>
            <a:prstDash val="solid"/>
          </a:ln>
        </p:spPr>
      </p:sp>
      <p:sp>
        <p:nvSpPr>
          <p:cNvPr id="16" name="Text 14"/>
          <p:cNvSpPr/>
          <p:nvPr/>
        </p:nvSpPr>
        <p:spPr>
          <a:xfrm>
            <a:off x="6025896" y="1005840"/>
            <a:ext cx="274320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92%</a:t>
            </a:r>
            <a:endParaRPr lang="en-US" sz="3000" dirty="0"/>
          </a:p>
        </p:txBody>
      </p:sp>
      <p:sp>
        <p:nvSpPr>
          <p:cNvPr id="17" name="Text 15"/>
          <p:cNvSpPr/>
          <p:nvPr/>
        </p:nvSpPr>
        <p:spPr>
          <a:xfrm>
            <a:off x="6025896" y="1572768"/>
            <a:ext cx="2743200" cy="32004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Task Success Rate</a:t>
            </a:r>
            <a:endParaRPr lang="en-US" sz="1100" dirty="0"/>
          </a:p>
        </p:txBody>
      </p:sp>
      <p:sp>
        <p:nvSpPr>
          <p:cNvPr id="18" name="Shape 16"/>
          <p:cNvSpPr/>
          <p:nvPr/>
        </p:nvSpPr>
        <p:spPr>
          <a:xfrm>
            <a:off x="320040" y="2103120"/>
            <a:ext cx="4206240" cy="2743200"/>
          </a:xfrm>
          <a:prstGeom prst="rect">
            <a:avLst/>
          </a:prstGeom>
          <a:solidFill>
            <a:srgbClr val="EDE7F6"/>
          </a:solidFill>
          <a:ln w="12700">
            <a:solidFill>
              <a:srgbClr val="D1C4E9"/>
            </a:solidFill>
            <a:prstDash val="solid"/>
          </a:ln>
          <a:effectLst>
            <a:outerShdw blurRad="76200" dist="25400" dir="8100000" algn="bl" rotWithShape="0">
              <a:srgbClr val="000000">
                <a:alpha val="10000"/>
              </a:srgbClr>
            </a:outerShdw>
          </a:effectLst>
        </p:spPr>
      </p:sp>
      <p:sp>
        <p:nvSpPr>
          <p:cNvPr id="19" name="Shape 17"/>
          <p:cNvSpPr/>
          <p:nvPr/>
        </p:nvSpPr>
        <p:spPr>
          <a:xfrm>
            <a:off x="320040" y="2103120"/>
            <a:ext cx="4206240" cy="411480"/>
          </a:xfrm>
          <a:prstGeom prst="rect">
            <a:avLst/>
          </a:prstGeom>
          <a:solidFill>
            <a:srgbClr val="5B2D8E"/>
          </a:solidFill>
          <a:ln w="12700">
            <a:solidFill>
              <a:srgbClr val="5B2D8E"/>
            </a:solidFill>
            <a:prstDash val="solid"/>
          </a:ln>
        </p:spPr>
      </p:sp>
      <p:sp>
        <p:nvSpPr>
          <p:cNvPr id="20" name="Text 18"/>
          <p:cNvSpPr/>
          <p:nvPr/>
        </p:nvSpPr>
        <p:spPr>
          <a:xfrm>
            <a:off x="475488" y="2103120"/>
            <a:ext cx="3931920" cy="41148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  Validation Results</a:t>
            </a:r>
            <a:endParaRPr lang="en-US" sz="1300" dirty="0"/>
          </a:p>
        </p:txBody>
      </p:sp>
      <p:sp>
        <p:nvSpPr>
          <p:cNvPr id="21" name="Text 19"/>
          <p:cNvSpPr/>
          <p:nvPr/>
        </p:nvSpPr>
        <p:spPr>
          <a:xfrm>
            <a:off x="475488" y="2633472"/>
            <a:ext cx="329184" cy="329184"/>
          </a:xfrm>
          <a:prstGeom prst="rect">
            <a:avLst/>
          </a:prstGeom>
          <a:noFill/>
          <a:ln/>
        </p:spPr>
        <p:txBody>
          <a:bodyPr wrap="square" lIns="0" tIns="0" rIns="0" bIns="0" rtlCol="0" anchor="ctr"/>
          <a:lstStyle/>
          <a:p>
            <a:pPr marL="0" indent="0" algn="ctr">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22" name="Text 20"/>
          <p:cNvSpPr/>
          <p:nvPr/>
        </p:nvSpPr>
        <p:spPr>
          <a:xfrm>
            <a:off x="868680" y="2633472"/>
            <a:ext cx="3474720" cy="201168"/>
          </a:xfrm>
          <a:prstGeom prst="rect">
            <a:avLst/>
          </a:prstGeom>
          <a:noFill/>
          <a:ln/>
        </p:spPr>
        <p:txBody>
          <a:bodyPr wrap="square" lIns="0" tIns="0" rIns="0" bIns="0" rtlCol="0" anchor="ctr"/>
          <a:lstStyle/>
          <a:p>
            <a:pPr marL="0" indent="0">
              <a:buNone/>
            </a:pPr>
            <a:r>
              <a:rPr lang="en-US" sz="1000" b="1" dirty="0">
                <a:solidFill>
                  <a:srgbClr val="2E7D32"/>
                </a:solidFill>
                <a:latin typeface="Arial" pitchFamily="34" charset="0"/>
                <a:ea typeface="Arial" pitchFamily="34" charset="-122"/>
                <a:cs typeface="Arial" pitchFamily="34" charset="-120"/>
              </a:rPr>
              <a:t>What Worked Well:</a:t>
            </a:r>
            <a:endParaRPr lang="en-US" sz="1000" dirty="0"/>
          </a:p>
        </p:txBody>
      </p:sp>
      <p:sp>
        <p:nvSpPr>
          <p:cNvPr id="23" name="Text 21"/>
          <p:cNvSpPr/>
          <p:nvPr/>
        </p:nvSpPr>
        <p:spPr>
          <a:xfrm>
            <a:off x="868680" y="2866136"/>
            <a:ext cx="3474720" cy="201168"/>
          </a:xfrm>
          <a:prstGeom prst="rect">
            <a:avLst/>
          </a:prstGeom>
          <a:noFill/>
          <a:ln/>
        </p:spPr>
        <p:txBody>
          <a:bodyPr wrap="square" lIns="0" tIns="0" rIns="0" bIns="0" rtlCol="0" anchor="ctr"/>
          <a:lstStyle/>
          <a:p>
            <a:r>
              <a:rPr lang="en-US" sz="1050" dirty="0">
                <a:latin typeface="Times New Roman" panose="02020603050405020304" pitchFamily="18" charset="0"/>
                <a:cs typeface="Times New Roman" panose="02020603050405020304" pitchFamily="18" charset="0"/>
              </a:rPr>
              <a:t>Fast SOS response, easy navigation, and reliable emergency alert functionality.</a:t>
            </a:r>
          </a:p>
        </p:txBody>
      </p:sp>
      <p:sp>
        <p:nvSpPr>
          <p:cNvPr id="24" name="Text 22"/>
          <p:cNvSpPr/>
          <p:nvPr/>
        </p:nvSpPr>
        <p:spPr>
          <a:xfrm>
            <a:off x="475488" y="3145536"/>
            <a:ext cx="329184" cy="329184"/>
          </a:xfrm>
          <a:prstGeom prst="rect">
            <a:avLst/>
          </a:prstGeom>
          <a:noFill/>
          <a:ln/>
        </p:spPr>
        <p:txBody>
          <a:bodyPr wrap="square" lIns="0" tIns="0" rIns="0" bIns="0" rtlCol="0" anchor="ctr"/>
          <a:lstStyle/>
          <a:p>
            <a:pPr marL="0" indent="0" algn="ctr">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25" name="Text 23"/>
          <p:cNvSpPr/>
          <p:nvPr/>
        </p:nvSpPr>
        <p:spPr>
          <a:xfrm>
            <a:off x="868680" y="3145536"/>
            <a:ext cx="3474720" cy="201168"/>
          </a:xfrm>
          <a:prstGeom prst="rect">
            <a:avLst/>
          </a:prstGeom>
          <a:noFill/>
          <a:ln/>
        </p:spPr>
        <p:txBody>
          <a:bodyPr wrap="square" lIns="0" tIns="0" rIns="0" bIns="0" rtlCol="0" anchor="ctr"/>
          <a:lstStyle/>
          <a:p>
            <a:pPr marL="0" indent="0">
              <a:buNone/>
            </a:pPr>
            <a:r>
              <a:rPr lang="en-US" sz="1000" b="1" dirty="0">
                <a:solidFill>
                  <a:srgbClr val="E65100"/>
                </a:solidFill>
                <a:latin typeface="Arial" pitchFamily="34" charset="0"/>
                <a:ea typeface="Arial" pitchFamily="34" charset="-122"/>
                <a:cs typeface="Arial" pitchFamily="34" charset="-120"/>
              </a:rPr>
              <a:t>What Needed Improvement:</a:t>
            </a:r>
            <a:endParaRPr lang="en-US" sz="1000" dirty="0"/>
          </a:p>
        </p:txBody>
      </p:sp>
      <p:sp>
        <p:nvSpPr>
          <p:cNvPr id="26" name="Text 24"/>
          <p:cNvSpPr/>
          <p:nvPr/>
        </p:nvSpPr>
        <p:spPr>
          <a:xfrm>
            <a:off x="868680" y="3397250"/>
            <a:ext cx="3474720" cy="201168"/>
          </a:xfrm>
          <a:prstGeom prst="rect">
            <a:avLst/>
          </a:prstGeom>
          <a:noFill/>
          <a:ln/>
        </p:spPr>
        <p:txBody>
          <a:bodyPr wrap="square" lIns="0" tIns="0" rIns="0" bIns="0" rtlCol="0" anchor="ctr"/>
          <a:lstStyle/>
          <a:p>
            <a:r>
              <a:rPr lang="en-US" sz="1050" dirty="0">
                <a:latin typeface="Times New Roman" panose="02020603050405020304" pitchFamily="18" charset="0"/>
                <a:cs typeface="Times New Roman" panose="02020603050405020304" pitchFamily="18" charset="0"/>
              </a:rPr>
              <a:t>Battery optimization and background detection performance required improvement.</a:t>
            </a:r>
          </a:p>
        </p:txBody>
      </p:sp>
      <p:sp>
        <p:nvSpPr>
          <p:cNvPr id="27" name="Text 25"/>
          <p:cNvSpPr/>
          <p:nvPr/>
        </p:nvSpPr>
        <p:spPr>
          <a:xfrm>
            <a:off x="475488" y="3657600"/>
            <a:ext cx="329184" cy="329184"/>
          </a:xfrm>
          <a:prstGeom prst="rect">
            <a:avLst/>
          </a:prstGeom>
          <a:noFill/>
          <a:ln/>
        </p:spPr>
        <p:txBody>
          <a:bodyPr wrap="square" lIns="0" tIns="0" rIns="0" bIns="0" rtlCol="0" anchor="ctr"/>
          <a:lstStyle/>
          <a:p>
            <a:pPr marL="0" indent="0" algn="ctr">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28" name="Text 26"/>
          <p:cNvSpPr/>
          <p:nvPr/>
        </p:nvSpPr>
        <p:spPr>
          <a:xfrm>
            <a:off x="868680" y="3657600"/>
            <a:ext cx="3474720" cy="201168"/>
          </a:xfrm>
          <a:prstGeom prst="rect">
            <a:avLst/>
          </a:prstGeom>
          <a:noFill/>
          <a:ln/>
        </p:spPr>
        <p:txBody>
          <a:bodyPr wrap="square" lIns="0" tIns="0" rIns="0" bIns="0" rtlCol="0" anchor="ctr"/>
          <a:lstStyle/>
          <a:p>
            <a:pPr marL="0" indent="0">
              <a:buNone/>
            </a:pPr>
            <a:r>
              <a:rPr lang="en-US" sz="1000" b="1" dirty="0">
                <a:solidFill>
                  <a:srgbClr val="5B2D8E"/>
                </a:solidFill>
                <a:latin typeface="Arial" pitchFamily="34" charset="0"/>
                <a:ea typeface="Arial" pitchFamily="34" charset="-122"/>
                <a:cs typeface="Arial" pitchFamily="34" charset="-120"/>
              </a:rPr>
              <a:t>Changes Made:</a:t>
            </a:r>
            <a:endParaRPr lang="en-US" sz="1000" dirty="0"/>
          </a:p>
        </p:txBody>
      </p:sp>
      <p:sp>
        <p:nvSpPr>
          <p:cNvPr id="29" name="Text 27"/>
          <p:cNvSpPr/>
          <p:nvPr/>
        </p:nvSpPr>
        <p:spPr>
          <a:xfrm>
            <a:off x="868680" y="3858768"/>
            <a:ext cx="3474720" cy="201168"/>
          </a:xfrm>
          <a:prstGeom prst="rect">
            <a:avLst/>
          </a:prstGeom>
          <a:noFill/>
          <a:ln/>
        </p:spPr>
        <p:txBody>
          <a:bodyPr wrap="square" lIns="0" tIns="0" rIns="0" bIns="0" rtlCol="0" anchor="ctr"/>
          <a:lstStyle/>
          <a:p>
            <a:r>
              <a:rPr lang="en-US" sz="1050" dirty="0">
                <a:latin typeface="Times New Roman" panose="02020603050405020304" pitchFamily="18" charset="0"/>
                <a:cs typeface="Times New Roman" panose="02020603050405020304" pitchFamily="18" charset="0"/>
              </a:rPr>
              <a:t>Enhanced UI flow, alert handling, and auto-detection accuracy</a:t>
            </a:r>
            <a:r>
              <a:rPr lang="en-US" sz="1000" dirty="0"/>
              <a:t>.</a:t>
            </a:r>
          </a:p>
        </p:txBody>
      </p:sp>
      <p:sp>
        <p:nvSpPr>
          <p:cNvPr id="30" name="Text 28"/>
          <p:cNvSpPr/>
          <p:nvPr/>
        </p:nvSpPr>
        <p:spPr>
          <a:xfrm>
            <a:off x="475488" y="4169664"/>
            <a:ext cx="329184" cy="329184"/>
          </a:xfrm>
          <a:prstGeom prst="rect">
            <a:avLst/>
          </a:prstGeom>
          <a:noFill/>
          <a:ln/>
        </p:spPr>
        <p:txBody>
          <a:bodyPr wrap="square" lIns="0" tIns="0" rIns="0" bIns="0" rtlCol="0" anchor="ctr"/>
          <a:lstStyle/>
          <a:p>
            <a:pPr marL="0" indent="0" algn="ctr">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31" name="Text 29"/>
          <p:cNvSpPr/>
          <p:nvPr/>
        </p:nvSpPr>
        <p:spPr>
          <a:xfrm>
            <a:off x="868680" y="4169664"/>
            <a:ext cx="3474720" cy="201168"/>
          </a:xfrm>
          <a:prstGeom prst="rect">
            <a:avLst/>
          </a:prstGeom>
          <a:noFill/>
          <a:ln/>
        </p:spPr>
        <p:txBody>
          <a:bodyPr wrap="square" lIns="0" tIns="0" rIns="0" bIns="0" rtlCol="0" anchor="ctr"/>
          <a:lstStyle/>
          <a:p>
            <a:pPr marL="0" indent="0">
              <a:buNone/>
            </a:pPr>
            <a:r>
              <a:rPr lang="en-US" sz="1000" b="1" dirty="0">
                <a:solidFill>
                  <a:srgbClr val="7B4DB5"/>
                </a:solidFill>
                <a:latin typeface="Arial" pitchFamily="34" charset="0"/>
                <a:ea typeface="Arial" pitchFamily="34" charset="-122"/>
                <a:cs typeface="Arial" pitchFamily="34" charset="-120"/>
              </a:rPr>
              <a:t>Final Validation:</a:t>
            </a:r>
            <a:endParaRPr lang="en-US" sz="1000" dirty="0"/>
          </a:p>
        </p:txBody>
      </p:sp>
      <p:sp>
        <p:nvSpPr>
          <p:cNvPr id="32" name="Text 30"/>
          <p:cNvSpPr/>
          <p:nvPr/>
        </p:nvSpPr>
        <p:spPr>
          <a:xfrm>
            <a:off x="868680" y="4407408"/>
            <a:ext cx="3474720" cy="201168"/>
          </a:xfrm>
          <a:prstGeom prst="rect">
            <a:avLst/>
          </a:prstGeom>
          <a:noFill/>
          <a:ln/>
        </p:spPr>
        <p:txBody>
          <a:bodyPr wrap="square" lIns="0" tIns="0" rIns="0" bIns="0" rtlCol="0" anchor="ctr"/>
          <a:lstStyle/>
          <a:p>
            <a:r>
              <a:rPr lang="en-US" sz="1050" dirty="0">
                <a:latin typeface="Times New Roman" panose="02020603050405020304" pitchFamily="18" charset="0"/>
                <a:cs typeface="Times New Roman" panose="02020603050405020304" pitchFamily="18" charset="0"/>
              </a:rPr>
              <a:t>GEOSHIELD successfully provided a smart, reliable, and user-friendly emergency safety solution</a:t>
            </a:r>
            <a:r>
              <a:rPr lang="en-US" sz="1000" dirty="0"/>
              <a:t>.</a:t>
            </a:r>
          </a:p>
        </p:txBody>
      </p:sp>
      <p:sp>
        <p:nvSpPr>
          <p:cNvPr id="33" name="Shape 31"/>
          <p:cNvSpPr/>
          <p:nvPr/>
        </p:nvSpPr>
        <p:spPr>
          <a:xfrm>
            <a:off x="4709160" y="2102866"/>
            <a:ext cx="4114800" cy="2743200"/>
          </a:xfrm>
          <a:prstGeom prst="rect">
            <a:avLst/>
          </a:prstGeom>
          <a:solidFill>
            <a:srgbClr val="FFFDE7"/>
          </a:solidFill>
          <a:ln w="12700">
            <a:solidFill>
              <a:srgbClr val="F5C518"/>
            </a:solidFill>
            <a:prstDash val="solid"/>
          </a:ln>
          <a:effectLst>
            <a:outerShdw blurRad="76200" dist="25400" dir="8100000" algn="bl" rotWithShape="0">
              <a:srgbClr val="000000">
                <a:alpha val="10000"/>
              </a:srgbClr>
            </a:outerShdw>
          </a:effectLst>
        </p:spPr>
      </p:sp>
      <p:sp>
        <p:nvSpPr>
          <p:cNvPr id="34" name="Shape 32"/>
          <p:cNvSpPr/>
          <p:nvPr/>
        </p:nvSpPr>
        <p:spPr>
          <a:xfrm>
            <a:off x="4709160" y="2103120"/>
            <a:ext cx="4114800" cy="411480"/>
          </a:xfrm>
          <a:prstGeom prst="rect">
            <a:avLst/>
          </a:prstGeom>
          <a:solidFill>
            <a:srgbClr val="F5C518"/>
          </a:solidFill>
          <a:ln w="12700">
            <a:solidFill>
              <a:srgbClr val="F5C518"/>
            </a:solidFill>
            <a:prstDash val="solid"/>
          </a:ln>
        </p:spPr>
      </p:sp>
      <p:sp>
        <p:nvSpPr>
          <p:cNvPr id="35" name="Text 33"/>
          <p:cNvSpPr/>
          <p:nvPr/>
        </p:nvSpPr>
        <p:spPr>
          <a:xfrm>
            <a:off x="4864608" y="2103120"/>
            <a:ext cx="3840480" cy="411480"/>
          </a:xfrm>
          <a:prstGeom prst="rect">
            <a:avLst/>
          </a:prstGeom>
          <a:noFill/>
          <a:ln/>
        </p:spPr>
        <p:txBody>
          <a:bodyPr wrap="square" lIns="0" tIns="0" rIns="0" bIns="0" rtlCol="0" anchor="ctr"/>
          <a:lstStyle/>
          <a:p>
            <a:pPr marL="0" indent="0">
              <a:buNone/>
            </a:pPr>
            <a:r>
              <a:rPr lang="en-US" sz="1300" b="1" dirty="0">
                <a:solidFill>
                  <a:srgbClr val="5B2D8E"/>
                </a:solidFill>
                <a:latin typeface="Arial" pitchFamily="34" charset="0"/>
                <a:ea typeface="Arial" pitchFamily="34" charset="-122"/>
                <a:cs typeface="Arial" pitchFamily="34" charset="-120"/>
              </a:rPr>
              <a:t>💬  Team Reflections &amp; Learnings</a:t>
            </a:r>
            <a:endParaRPr lang="en-US" sz="1300" dirty="0"/>
          </a:p>
        </p:txBody>
      </p:sp>
      <p:sp>
        <p:nvSpPr>
          <p:cNvPr id="36" name="Text 34"/>
          <p:cNvSpPr/>
          <p:nvPr/>
        </p:nvSpPr>
        <p:spPr>
          <a:xfrm>
            <a:off x="4864608" y="2633472"/>
            <a:ext cx="329184" cy="329184"/>
          </a:xfrm>
          <a:prstGeom prst="rect">
            <a:avLst/>
          </a:prstGeom>
          <a:noFill/>
          <a:ln/>
        </p:spPr>
        <p:txBody>
          <a:bodyPr wrap="square" lIns="0" tIns="0" rIns="0" bIns="0" rtlCol="0" anchor="ctr"/>
          <a:lstStyle/>
          <a:p>
            <a:pPr marL="0" indent="0" algn="ctr">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37" name="Text 35"/>
          <p:cNvSpPr/>
          <p:nvPr/>
        </p:nvSpPr>
        <p:spPr>
          <a:xfrm>
            <a:off x="5257800" y="2633472"/>
            <a:ext cx="3383280" cy="201168"/>
          </a:xfrm>
          <a:prstGeom prst="rect">
            <a:avLst/>
          </a:prstGeom>
          <a:noFill/>
          <a:ln/>
        </p:spPr>
        <p:txBody>
          <a:bodyPr wrap="square" lIns="0" tIns="0" rIns="0" bIns="0" rtlCol="0" anchor="ctr"/>
          <a:lstStyle/>
          <a:p>
            <a:pPr marL="0" indent="0">
              <a:buNone/>
            </a:pPr>
            <a:r>
              <a:rPr lang="en-US" sz="1000" b="1" dirty="0">
                <a:solidFill>
                  <a:srgbClr val="7A5C00"/>
                </a:solidFill>
                <a:latin typeface="Arial" pitchFamily="34" charset="0"/>
                <a:ea typeface="Arial" pitchFamily="34" charset="-122"/>
                <a:cs typeface="Arial" pitchFamily="34" charset="-120"/>
              </a:rPr>
              <a:t>Biggest Learning:</a:t>
            </a:r>
            <a:endParaRPr lang="en-US" sz="1000" dirty="0"/>
          </a:p>
        </p:txBody>
      </p:sp>
      <p:sp>
        <p:nvSpPr>
          <p:cNvPr id="38" name="Text 36"/>
          <p:cNvSpPr/>
          <p:nvPr/>
        </p:nvSpPr>
        <p:spPr>
          <a:xfrm>
            <a:off x="5257800" y="2904744"/>
            <a:ext cx="3383280" cy="201168"/>
          </a:xfrm>
          <a:prstGeom prst="rect">
            <a:avLst/>
          </a:prstGeom>
          <a:noFill/>
          <a:ln/>
        </p:spPr>
        <p:txBody>
          <a:bodyPr wrap="square" lIns="0" tIns="0" rIns="0" bIns="0" rtlCol="0" anchor="ctr"/>
          <a:lstStyle/>
          <a:p>
            <a:pPr algn="just"/>
            <a:r>
              <a:rPr lang="en-US" sz="900" dirty="0">
                <a:latin typeface="Times New Roman" panose="02020603050405020304" pitchFamily="18" charset="0"/>
                <a:cs typeface="Times New Roman" panose="02020603050405020304" pitchFamily="18" charset="0"/>
              </a:rPr>
              <a:t>Design Thinking helped us convert real user safety problems into a practical and user-friendly mobile solution through continuous feedback and improvement.</a:t>
            </a:r>
          </a:p>
        </p:txBody>
      </p:sp>
      <p:sp>
        <p:nvSpPr>
          <p:cNvPr id="39" name="Text 37"/>
          <p:cNvSpPr/>
          <p:nvPr/>
        </p:nvSpPr>
        <p:spPr>
          <a:xfrm>
            <a:off x="4864608" y="3145536"/>
            <a:ext cx="329184" cy="329184"/>
          </a:xfrm>
          <a:prstGeom prst="rect">
            <a:avLst/>
          </a:prstGeom>
          <a:noFill/>
          <a:ln/>
        </p:spPr>
        <p:txBody>
          <a:bodyPr wrap="square" lIns="0" tIns="0" rIns="0" bIns="0" rtlCol="0" anchor="ctr"/>
          <a:lstStyle/>
          <a:p>
            <a:pPr marL="0" indent="0" algn="ctr">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40" name="Text 38"/>
          <p:cNvSpPr/>
          <p:nvPr/>
        </p:nvSpPr>
        <p:spPr>
          <a:xfrm>
            <a:off x="5257800" y="3215386"/>
            <a:ext cx="3383280" cy="201168"/>
          </a:xfrm>
          <a:prstGeom prst="rect">
            <a:avLst/>
          </a:prstGeom>
          <a:noFill/>
          <a:ln/>
        </p:spPr>
        <p:txBody>
          <a:bodyPr wrap="square" lIns="0" tIns="0" rIns="0" bIns="0" rtlCol="0" anchor="ctr"/>
          <a:lstStyle/>
          <a:p>
            <a:pPr marL="0" indent="0">
              <a:buNone/>
            </a:pPr>
            <a:r>
              <a:rPr lang="en-US" sz="1000" b="1" dirty="0">
                <a:solidFill>
                  <a:srgbClr val="7A5C00"/>
                </a:solidFill>
                <a:latin typeface="Arial" pitchFamily="34" charset="0"/>
                <a:ea typeface="Arial" pitchFamily="34" charset="-122"/>
                <a:cs typeface="Arial" pitchFamily="34" charset="-120"/>
              </a:rPr>
              <a:t>Teamwork Insight:</a:t>
            </a:r>
            <a:endParaRPr lang="en-US" sz="1000" dirty="0"/>
          </a:p>
        </p:txBody>
      </p:sp>
      <p:sp>
        <p:nvSpPr>
          <p:cNvPr id="41" name="Text 39"/>
          <p:cNvSpPr/>
          <p:nvPr/>
        </p:nvSpPr>
        <p:spPr>
          <a:xfrm>
            <a:off x="5257800" y="3387852"/>
            <a:ext cx="3383280" cy="256032"/>
          </a:xfrm>
          <a:prstGeom prst="rect">
            <a:avLst/>
          </a:prstGeom>
          <a:noFill/>
          <a:ln/>
        </p:spPr>
        <p:txBody>
          <a:bodyPr wrap="square" lIns="0" tIns="0" rIns="0" bIns="0" rtlCol="0" anchor="ctr"/>
          <a:lstStyle/>
          <a:p>
            <a:pPr algn="just"/>
            <a:r>
              <a:rPr lang="en-US" sz="900" dirty="0">
                <a:latin typeface="Times New Roman" panose="02020603050405020304" pitchFamily="18" charset="0"/>
                <a:cs typeface="Times New Roman" panose="02020603050405020304" pitchFamily="18" charset="0"/>
              </a:rPr>
              <a:t>Team collaboration and diverse ideas improved the app’s usability, emergency workflow, and overall feature design</a:t>
            </a:r>
            <a:r>
              <a:rPr lang="en-US" sz="1000" dirty="0"/>
              <a:t>.</a:t>
            </a:r>
          </a:p>
        </p:txBody>
      </p:sp>
      <p:sp>
        <p:nvSpPr>
          <p:cNvPr id="42" name="Text 40"/>
          <p:cNvSpPr/>
          <p:nvPr/>
        </p:nvSpPr>
        <p:spPr>
          <a:xfrm>
            <a:off x="4864608" y="3657600"/>
            <a:ext cx="329184" cy="329184"/>
          </a:xfrm>
          <a:prstGeom prst="rect">
            <a:avLst/>
          </a:prstGeom>
          <a:noFill/>
          <a:ln/>
        </p:spPr>
        <p:txBody>
          <a:bodyPr wrap="square" lIns="0" tIns="0" rIns="0" bIns="0" rtlCol="0" anchor="ctr"/>
          <a:lstStyle/>
          <a:p>
            <a:pPr marL="0" indent="0" algn="ctr">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43" name="Text 41"/>
          <p:cNvSpPr/>
          <p:nvPr/>
        </p:nvSpPr>
        <p:spPr>
          <a:xfrm>
            <a:off x="5257800" y="3657600"/>
            <a:ext cx="3383280" cy="201168"/>
          </a:xfrm>
          <a:prstGeom prst="rect">
            <a:avLst/>
          </a:prstGeom>
          <a:noFill/>
          <a:ln/>
        </p:spPr>
        <p:txBody>
          <a:bodyPr wrap="square" lIns="0" tIns="0" rIns="0" bIns="0" rtlCol="0" anchor="ctr"/>
          <a:lstStyle/>
          <a:p>
            <a:pPr marL="0" indent="0">
              <a:buNone/>
            </a:pPr>
            <a:r>
              <a:rPr lang="en-US" sz="1000" b="1" dirty="0">
                <a:solidFill>
                  <a:srgbClr val="7A5C00"/>
                </a:solidFill>
                <a:latin typeface="Arial" pitchFamily="34" charset="0"/>
                <a:ea typeface="Arial" pitchFamily="34" charset="-122"/>
                <a:cs typeface="Arial" pitchFamily="34" charset="-120"/>
              </a:rPr>
              <a:t>If We Had More Time:</a:t>
            </a:r>
            <a:endParaRPr lang="en-US" sz="1000" dirty="0"/>
          </a:p>
        </p:txBody>
      </p:sp>
      <p:sp>
        <p:nvSpPr>
          <p:cNvPr id="44" name="Text 42"/>
          <p:cNvSpPr/>
          <p:nvPr/>
        </p:nvSpPr>
        <p:spPr>
          <a:xfrm>
            <a:off x="5257800" y="3884676"/>
            <a:ext cx="3383280" cy="201168"/>
          </a:xfrm>
          <a:prstGeom prst="rect">
            <a:avLst/>
          </a:prstGeom>
          <a:noFill/>
          <a:ln/>
        </p:spPr>
        <p:txBody>
          <a:bodyPr wrap="square" lIns="0" tIns="0" rIns="0" bIns="0" rtlCol="0" anchor="ctr"/>
          <a:lstStyle/>
          <a:p>
            <a:pPr algn="just"/>
            <a:r>
              <a:rPr lang="en-US" sz="900" dirty="0">
                <a:latin typeface="Times New Roman" panose="02020603050405020304" pitchFamily="18" charset="0"/>
                <a:cs typeface="Times New Roman" panose="02020603050405020304" pitchFamily="18" charset="0"/>
              </a:rPr>
              <a:t>We would improve background monitoring, enhance AI detection accuracy, and integrate wearable device support.</a:t>
            </a:r>
          </a:p>
        </p:txBody>
      </p:sp>
      <p:sp>
        <p:nvSpPr>
          <p:cNvPr id="45" name="Text 43"/>
          <p:cNvSpPr/>
          <p:nvPr/>
        </p:nvSpPr>
        <p:spPr>
          <a:xfrm>
            <a:off x="4864608" y="4169664"/>
            <a:ext cx="329184" cy="329184"/>
          </a:xfrm>
          <a:prstGeom prst="rect">
            <a:avLst/>
          </a:prstGeom>
          <a:noFill/>
          <a:ln/>
        </p:spPr>
        <p:txBody>
          <a:bodyPr wrap="square" lIns="0" tIns="0" rIns="0" bIns="0" rtlCol="0" anchor="ctr"/>
          <a:lstStyle/>
          <a:p>
            <a:pPr marL="0" indent="0" algn="ctr">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46" name="Text 44"/>
          <p:cNvSpPr/>
          <p:nvPr/>
        </p:nvSpPr>
        <p:spPr>
          <a:xfrm>
            <a:off x="5257800" y="4169664"/>
            <a:ext cx="3383280" cy="201168"/>
          </a:xfrm>
          <a:prstGeom prst="rect">
            <a:avLst/>
          </a:prstGeom>
          <a:noFill/>
          <a:ln/>
        </p:spPr>
        <p:txBody>
          <a:bodyPr wrap="square" lIns="0" tIns="0" rIns="0" bIns="0" rtlCol="0" anchor="ctr"/>
          <a:lstStyle/>
          <a:p>
            <a:pPr marL="0" indent="0">
              <a:buNone/>
            </a:pPr>
            <a:r>
              <a:rPr lang="en-US" sz="1000" b="1" dirty="0">
                <a:solidFill>
                  <a:srgbClr val="7A5C00"/>
                </a:solidFill>
                <a:latin typeface="Arial" pitchFamily="34" charset="0"/>
                <a:ea typeface="Arial" pitchFamily="34" charset="-122"/>
                <a:cs typeface="Arial" pitchFamily="34" charset="-120"/>
              </a:rPr>
              <a:t>Course Takeaway:</a:t>
            </a:r>
            <a:endParaRPr lang="en-US" sz="1000" dirty="0"/>
          </a:p>
        </p:txBody>
      </p:sp>
      <p:sp>
        <p:nvSpPr>
          <p:cNvPr id="47" name="Text 45"/>
          <p:cNvSpPr/>
          <p:nvPr/>
        </p:nvSpPr>
        <p:spPr>
          <a:xfrm>
            <a:off x="5257800" y="4526280"/>
            <a:ext cx="3383280" cy="45719"/>
          </a:xfrm>
          <a:prstGeom prst="rect">
            <a:avLst/>
          </a:prstGeom>
          <a:noFill/>
          <a:ln/>
        </p:spPr>
        <p:txBody>
          <a:bodyPr wrap="square" lIns="0" tIns="0" rIns="0" bIns="0" rtlCol="0" anchor="ctr"/>
          <a:lstStyle/>
          <a:p>
            <a:pPr algn="just"/>
            <a:r>
              <a:rPr lang="en-US" sz="900" dirty="0">
                <a:latin typeface="Times New Roman" panose="02020603050405020304" pitchFamily="18" charset="0"/>
                <a:cs typeface="Times New Roman" panose="02020603050405020304" pitchFamily="18" charset="0"/>
              </a:rPr>
              <a:t>This project strengthened our skills in user-centered design, rapid prototyping, testing, and iterative development for real-world problem solving.</a:t>
            </a:r>
          </a:p>
        </p:txBody>
      </p:sp>
      <p:sp>
        <p:nvSpPr>
          <p:cNvPr id="48" name="Text 46"/>
          <p:cNvSpPr/>
          <p:nvPr/>
        </p:nvSpPr>
        <p:spPr>
          <a:xfrm>
            <a:off x="8595360" y="4846320"/>
            <a:ext cx="457200" cy="228600"/>
          </a:xfrm>
          <a:prstGeom prst="rect">
            <a:avLst/>
          </a:prstGeom>
          <a:noFill/>
          <a:ln/>
        </p:spPr>
        <p:txBody>
          <a:bodyPr wrap="square" lIns="0" tIns="0" rIns="0" bIns="0" rtlCol="0" anchor="ctr"/>
          <a:lstStyle/>
          <a:p>
            <a:pPr marL="0" indent="0" algn="r">
              <a:buNone/>
            </a:pPr>
            <a:r>
              <a:rPr lang="en-US" sz="900" dirty="0">
                <a:solidFill>
                  <a:srgbClr val="666666"/>
                </a:solidFill>
                <a:latin typeface="Arial" pitchFamily="34" charset="0"/>
                <a:ea typeface="Arial" pitchFamily="34" charset="-122"/>
                <a:cs typeface="Arial" pitchFamily="34" charset="-120"/>
              </a:rPr>
              <a:t>12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C518"/>
          </a:solidFill>
          <a:ln w="12700">
            <a:solidFill>
              <a:srgbClr val="F5C518"/>
            </a:solidFill>
            <a:prstDash val="solid"/>
          </a:ln>
        </p:spPr>
      </p:sp>
      <p:sp>
        <p:nvSpPr>
          <p:cNvPr id="3" name="Shape 1"/>
          <p:cNvSpPr/>
          <p:nvPr/>
        </p:nvSpPr>
        <p:spPr>
          <a:xfrm>
            <a:off x="0" y="5065776"/>
            <a:ext cx="9144000" cy="73152"/>
          </a:xfrm>
          <a:prstGeom prst="rect">
            <a:avLst/>
          </a:prstGeom>
          <a:solidFill>
            <a:srgbClr val="F5C518"/>
          </a:solidFill>
          <a:ln w="12700">
            <a:solidFill>
              <a:srgbClr val="F5C518"/>
            </a:solidFill>
            <a:prstDash val="solid"/>
          </a:ln>
        </p:spPr>
      </p:sp>
      <p:sp>
        <p:nvSpPr>
          <p:cNvPr id="4" name="Text 2"/>
          <p:cNvSpPr/>
          <p:nvPr/>
        </p:nvSpPr>
        <p:spPr>
          <a:xfrm>
            <a:off x="365760" y="731520"/>
            <a:ext cx="5029200" cy="1097280"/>
          </a:xfrm>
          <a:prstGeom prst="rect">
            <a:avLst/>
          </a:prstGeom>
          <a:noFill/>
          <a:ln/>
        </p:spPr>
        <p:txBody>
          <a:bodyPr wrap="square" rtlCol="0" anchor="ctr"/>
          <a:lstStyle/>
          <a:p>
            <a:pPr marL="0" indent="0">
              <a:buNone/>
            </a:pPr>
            <a:r>
              <a:rPr lang="en-US" sz="5000" b="1" dirty="0">
                <a:solidFill>
                  <a:srgbClr val="7030A0"/>
                </a:solidFill>
                <a:latin typeface="Arial" pitchFamily="34" charset="0"/>
                <a:ea typeface="Arial" pitchFamily="34" charset="-122"/>
                <a:cs typeface="Arial" pitchFamily="34" charset="-120"/>
              </a:rPr>
              <a:t>Thank</a:t>
            </a:r>
            <a:r>
              <a:rPr lang="en-US" sz="5000" b="1" dirty="0">
                <a:solidFill>
                  <a:srgbClr val="FFFFFF"/>
                </a:solidFill>
                <a:latin typeface="Arial" pitchFamily="34" charset="0"/>
                <a:ea typeface="Arial" pitchFamily="34" charset="-122"/>
                <a:cs typeface="Arial" pitchFamily="34" charset="-120"/>
              </a:rPr>
              <a:t> </a:t>
            </a:r>
            <a:r>
              <a:rPr lang="en-US" sz="5000" b="1" dirty="0">
                <a:solidFill>
                  <a:srgbClr val="7030A0"/>
                </a:solidFill>
                <a:latin typeface="Arial" pitchFamily="34" charset="0"/>
                <a:ea typeface="Arial" pitchFamily="34" charset="-122"/>
                <a:cs typeface="Arial" pitchFamily="34" charset="-120"/>
              </a:rPr>
              <a:t>You</a:t>
            </a:r>
            <a:r>
              <a:rPr lang="en-US" sz="5000" b="1" dirty="0">
                <a:solidFill>
                  <a:srgbClr val="FFFFFF"/>
                </a:solidFill>
                <a:latin typeface="Arial" pitchFamily="34" charset="0"/>
                <a:ea typeface="Arial" pitchFamily="34" charset="-122"/>
                <a:cs typeface="Arial" pitchFamily="34" charset="-120"/>
              </a:rPr>
              <a:t>!</a:t>
            </a:r>
            <a:endParaRPr lang="en-US" sz="5000" dirty="0"/>
          </a:p>
        </p:txBody>
      </p:sp>
      <p:sp>
        <p:nvSpPr>
          <p:cNvPr id="5" name="Text 3"/>
          <p:cNvSpPr/>
          <p:nvPr/>
        </p:nvSpPr>
        <p:spPr>
          <a:xfrm>
            <a:off x="365760" y="1920240"/>
            <a:ext cx="5029200" cy="457200"/>
          </a:xfrm>
          <a:prstGeom prst="rect">
            <a:avLst/>
          </a:prstGeom>
          <a:noFill/>
          <a:ln/>
        </p:spPr>
        <p:txBody>
          <a:bodyPr wrap="square" rtlCol="0" anchor="ctr"/>
          <a:lstStyle/>
          <a:p>
            <a:pPr marL="0" indent="0">
              <a:buNone/>
            </a:pPr>
            <a:r>
              <a:rPr lang="en-US" sz="1500" i="1" dirty="0">
                <a:solidFill>
                  <a:srgbClr val="7030A0"/>
                </a:solidFill>
                <a:latin typeface="Arial" pitchFamily="34" charset="0"/>
                <a:ea typeface="Arial" pitchFamily="34" charset="-122"/>
                <a:cs typeface="Arial" pitchFamily="34" charset="-120"/>
              </a:rPr>
              <a:t>We welcome your questions and feedback.</a:t>
            </a:r>
            <a:endParaRPr lang="en-US" sz="1500" dirty="0">
              <a:solidFill>
                <a:srgbClr val="7030A0"/>
              </a:solidFill>
            </a:endParaRPr>
          </a:p>
        </p:txBody>
      </p:sp>
      <p:sp>
        <p:nvSpPr>
          <p:cNvPr id="6" name="Shape 4"/>
          <p:cNvSpPr/>
          <p:nvPr/>
        </p:nvSpPr>
        <p:spPr>
          <a:xfrm>
            <a:off x="365760" y="2487168"/>
            <a:ext cx="3657600" cy="27432"/>
          </a:xfrm>
          <a:prstGeom prst="rect">
            <a:avLst/>
          </a:prstGeom>
          <a:solidFill>
            <a:srgbClr val="7A50A8"/>
          </a:solidFill>
          <a:ln w="12700">
            <a:solidFill>
              <a:srgbClr val="7A50A8"/>
            </a:solidFill>
            <a:prstDash val="solid"/>
          </a:ln>
        </p:spPr>
      </p:sp>
      <p:sp>
        <p:nvSpPr>
          <p:cNvPr id="7" name="Text 5"/>
          <p:cNvSpPr/>
          <p:nvPr/>
        </p:nvSpPr>
        <p:spPr>
          <a:xfrm>
            <a:off x="365760" y="2606040"/>
            <a:ext cx="5029200" cy="347472"/>
          </a:xfrm>
          <a:prstGeom prst="rect">
            <a:avLst/>
          </a:prstGeom>
          <a:noFill/>
          <a:ln/>
        </p:spPr>
        <p:txBody>
          <a:bodyPr wrap="square" rtlCol="0" anchor="ctr"/>
          <a:lstStyle/>
          <a:p>
            <a:pPr marL="0" indent="0">
              <a:buNone/>
            </a:pPr>
            <a:r>
              <a:rPr lang="en-US" sz="1100" b="1" kern="0" spc="100" dirty="0">
                <a:solidFill>
                  <a:srgbClr val="7030A0"/>
                </a:solidFill>
                <a:latin typeface="Arial" pitchFamily="34" charset="0"/>
                <a:ea typeface="Arial" pitchFamily="34" charset="-122"/>
                <a:cs typeface="Arial" pitchFamily="34" charset="-120"/>
              </a:rPr>
              <a:t>RAJALAKSHMI ENGINEERING COLLEGE</a:t>
            </a:r>
            <a:endParaRPr lang="en-US" sz="1100" dirty="0">
              <a:solidFill>
                <a:srgbClr val="7030A0"/>
              </a:solidFill>
            </a:endParaRPr>
          </a:p>
        </p:txBody>
      </p:sp>
      <p:sp>
        <p:nvSpPr>
          <p:cNvPr id="11" name="Text 9"/>
          <p:cNvSpPr/>
          <p:nvPr/>
        </p:nvSpPr>
        <p:spPr>
          <a:xfrm>
            <a:off x="365760" y="3017520"/>
            <a:ext cx="5029200" cy="411480"/>
          </a:xfrm>
          <a:prstGeom prst="rect">
            <a:avLst/>
          </a:prstGeom>
          <a:noFill/>
          <a:ln/>
        </p:spPr>
        <p:txBody>
          <a:bodyPr wrap="square" rtlCol="0" anchor="ctr"/>
          <a:lstStyle/>
          <a:p>
            <a:pPr marL="0" indent="0">
              <a:buNone/>
            </a:pPr>
            <a:r>
              <a:rPr lang="en-US" sz="1400" i="1" dirty="0">
                <a:solidFill>
                  <a:srgbClr val="F5C518"/>
                </a:solidFill>
                <a:latin typeface="Arial" pitchFamily="34" charset="0"/>
                <a:ea typeface="Arial" pitchFamily="34" charset="-122"/>
                <a:cs typeface="Arial" pitchFamily="34" charset="-120"/>
              </a:rPr>
              <a:t>"Engineer Your Future"</a:t>
            </a:r>
            <a:endParaRPr lang="en-US" sz="1400" dirty="0"/>
          </a:p>
        </p:txBody>
      </p:sp>
      <p:pic>
        <p:nvPicPr>
          <p:cNvPr id="12" name="Image 0" descr="preencoded.png"/>
          <p:cNvPicPr>
            <a:picLocks noChangeAspect="1"/>
          </p:cNvPicPr>
          <p:nvPr/>
        </p:nvPicPr>
        <p:blipFill>
          <a:blip r:embed="rId3"/>
          <a:stretch>
            <a:fillRect/>
          </a:stretch>
        </p:blipFill>
        <p:spPr>
          <a:xfrm>
            <a:off x="4662623" y="1618488"/>
            <a:ext cx="3657600" cy="228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1197</Words>
  <Application>Microsoft Office PowerPoint</Application>
  <PresentationFormat>On-screen Show (16:9)</PresentationFormat>
  <Paragraphs>252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 &amp; Innovation – Final Project Review</dc:title>
  <dc:subject>PptxGenJS Presentation</dc:subject>
  <dc:creator>PptxGenJS</dc:creator>
  <cp:lastModifiedBy>Bharkavi N</cp:lastModifiedBy>
  <cp:revision>6</cp:revision>
  <dcterms:created xsi:type="dcterms:W3CDTF">2026-05-08T05:22:01Z</dcterms:created>
  <dcterms:modified xsi:type="dcterms:W3CDTF">2026-05-12T12:50:31Z</dcterms:modified>
</cp:coreProperties>
</file>